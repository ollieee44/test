
<file path=[Content_Types].xml><?xml version="1.0" encoding="utf-8"?>
<Types xmlns="http://schemas.openxmlformats.org/package/2006/content-types">
  <Default Extension="glb" ContentType="model/gltf-binary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SELFTAC: protein degraders, made small enough to reach the brain. Click to start the story; each click morphs to the next beat.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degrader has two ends: one holds the disease protein, the other recruits the cell’s disposal machinery. Joined by a linker, they are usually too big for oral dosing or the brain. The gold clasp in the middle is the SELFTAC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SELFTAC opens at the clasp, a reversible bond, so the drug travels as two small halves.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blood-brain barrier is sealed by tight junctions, so a drug must pass through the cells themselves. Small molecules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Inside the neuron the two halves find each other and the clasp closes, rebuilding the full degrader: one end on the target (BRD4 here), the other on the E3 ligase (VHL).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ligase brings in an E2 enzyme, which hands ubiquitin onto the face of the target turned towards it, one unit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proteasome reads the ubiquitin chain and breaks the target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degrader is not used up. It lets go and catches the next target: one molecule clears many.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Oyster Therapeutics: oral, brain-penetrant protein degraders.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Relationship Id="rId9" Type="http://schemas.microsoft.com/office/2017/06/relationships/model3d" Target="../media/model1.glb"/><Relationship Id="rId10" Type="http://schemas.microsoft.com/office/2017/06/relationships/model3d" Target="../media/model2.glb"/><Relationship Id="rId11" Type="http://schemas.microsoft.com/office/2017/06/relationships/model3d" Target="../media/model3.glb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Relationship Id="rId8" Type="http://schemas.microsoft.com/office/2017/06/relationships/model3d" Target="../media/model3.glb"/><Relationship Id="rId9" Type="http://schemas.microsoft.com/office/2017/06/relationships/model3d" Target="../media/model1.glb"/><Relationship Id="rId10" Type="http://schemas.microsoft.com/office/2017/06/relationships/model3d" Target="../media/model2.glb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6" Type="http://schemas.microsoft.com/office/2017/06/relationships/model3d" Target="../media/model3.glb"/><Relationship Id="rId7" Type="http://schemas.microsoft.com/office/2017/06/relationships/model3d" Target="../media/model2.glb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6" Type="http://schemas.microsoft.com/office/2017/06/relationships/model3d" Target="../media/model2.glb"/><Relationship Id="rId7" Type="http://schemas.microsoft.com/office/2017/06/relationships/model3d" Target="../media/model3.glb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Relationship Id="rId10" Type="http://schemas.microsoft.com/office/2017/06/relationships/model3d" Target="../media/model1.glb"/><Relationship Id="rId11" Type="http://schemas.microsoft.com/office/2017/06/relationships/model3d" Target="../media/model3.glb"/><Relationship Id="rId12" Type="http://schemas.microsoft.com/office/2017/06/relationships/model3d" Target="../media/model2.glb"/><Relationship Id="rId13" Type="http://schemas.microsoft.com/office/2017/06/relationships/model3d" Target="../media/model4.glb"/><Relationship Id="rId14" Type="http://schemas.microsoft.com/office/2017/06/relationships/model3d" Target="../media/model5.glb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3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3.png"/><Relationship Id="rId9" Type="http://schemas.openxmlformats.org/officeDocument/2006/relationships/image" Target="../media/image-6-3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Relationship Id="rId15" Type="http://schemas.microsoft.com/office/2017/06/relationships/model3d" Target="../media/model6.glb"/><Relationship Id="rId16" Type="http://schemas.microsoft.com/office/2017/06/relationships/model3d" Target="../media/model6.glb"/><Relationship Id="rId17" Type="http://schemas.microsoft.com/office/2017/06/relationships/model3d" Target="../media/model1.glb"/><Relationship Id="rId18" Type="http://schemas.microsoft.com/office/2017/06/relationships/model3d" Target="../media/model3.glb"/><Relationship Id="rId19" Type="http://schemas.microsoft.com/office/2017/06/relationships/model3d" Target="../media/model2.glb"/><Relationship Id="rId20" Type="http://schemas.microsoft.com/office/2017/06/relationships/model3d" Target="../media/model6.glb"/><Relationship Id="rId21" Type="http://schemas.microsoft.com/office/2017/06/relationships/model3d" Target="../media/model6.glb"/><Relationship Id="rId22" Type="http://schemas.microsoft.com/office/2017/06/relationships/model3d" Target="../media/model4.glb"/><Relationship Id="rId23" Type="http://schemas.microsoft.com/office/2017/06/relationships/model3d" Target="../media/model7.glb"/><Relationship Id="rId24" Type="http://schemas.microsoft.com/office/2017/06/relationships/model3d" Target="../media/model5.glb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3.png"/><Relationship Id="rId9" Type="http://schemas.openxmlformats.org/officeDocument/2006/relationships/image" Target="../media/image-7-9.png"/><Relationship Id="rId10" Type="http://schemas.openxmlformats.org/officeDocument/2006/relationships/image" Target="../media/image-7-9.png"/><Relationship Id="rId11" Type="http://schemas.openxmlformats.org/officeDocument/2006/relationships/image" Target="../media/image-7-9.png"/><Relationship Id="rId12" Type="http://schemas.openxmlformats.org/officeDocument/2006/relationships/image" Target="../media/image-7-9.png"/><Relationship Id="rId13" Type="http://schemas.openxmlformats.org/officeDocument/2006/relationships/image" Target="../media/image-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.xml"/><Relationship Id="rId16" Type="http://schemas.microsoft.com/office/2017/06/relationships/model3d" Target="../media/model4.glb"/><Relationship Id="rId17" Type="http://schemas.microsoft.com/office/2017/06/relationships/model3d" Target="../media/model1.glb"/><Relationship Id="rId18" Type="http://schemas.microsoft.com/office/2017/06/relationships/model3d" Target="../media/model2.glb"/><Relationship Id="rId19" Type="http://schemas.microsoft.com/office/2017/06/relationships/model3d" Target="../media/model3.glb"/><Relationship Id="rId20" Type="http://schemas.microsoft.com/office/2017/06/relationships/model3d" Target="../media/model8.glb"/><Relationship Id="rId21" Type="http://schemas.microsoft.com/office/2017/06/relationships/model3d" Target="../media/model4.glb"/><Relationship Id="rId22" Type="http://schemas.microsoft.com/office/2017/06/relationships/model3d" Target="../media/model6.glb"/><Relationship Id="rId23" Type="http://schemas.microsoft.com/office/2017/06/relationships/model3d" Target="../media/model6.glb"/><Relationship Id="rId24" Type="http://schemas.microsoft.com/office/2017/06/relationships/model3d" Target="../media/model6.glb"/><Relationship Id="rId25" Type="http://schemas.microsoft.com/office/2017/06/relationships/model3d" Target="../media/model6.glb"/><Relationship Id="rId26" Type="http://schemas.microsoft.com/office/2017/06/relationships/model3d" Target="../media/model5.glb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Relationship Id="rId10" Type="http://schemas.microsoft.com/office/2017/06/relationships/model3d" Target="../media/model1.glb"/><Relationship Id="rId11" Type="http://schemas.microsoft.com/office/2017/06/relationships/model3d" Target="../media/model3.glb"/><Relationship Id="rId12" Type="http://schemas.microsoft.com/office/2017/06/relationships/model3d" Target="../media/model2.glb"/><Relationship Id="rId13" Type="http://schemas.microsoft.com/office/2017/06/relationships/model3d" Target="../media/model4.glb"/><Relationship Id="rId14" Type="http://schemas.microsoft.com/office/2017/06/relationships/model3d" Target="../media/model5.glb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392" y="1665497"/>
            <a:ext cx="4754880" cy="475488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6994630" y="3540735"/>
              <a:ext cx="1004404" cy="1004404"/>
            </p:xfrm>
            <a:graphic>
              <a:graphicData uri="http://schemas.microsoft.com/office/drawing/2017/model3d">
                <am3d:model3d r:embed="rId9">
                  <am3d:spPr>
                    <a:xfrm>
                      <a:off x="6994630" y="3540735"/>
                      <a:ext cx="1004404" cy="1004404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20740563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00440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Clasp bond" descr="Clasp bond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94630" y="3540735"/>
                <a:ext cx="1004404" cy="10044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6068738" y="1981718"/>
              <a:ext cx="2681028" cy="2681028"/>
            </p:xfrm>
            <a:graphic>
              <a:graphicData uri="http://schemas.microsoft.com/office/drawing/2017/model3d">
                <am3d:model3d r:embed="rId10">
                  <am3d:spPr>
                    <a:xfrm>
                      <a:off x="6068738" y="1981718"/>
                      <a:ext cx="2681028" cy="2681028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20740563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68102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68738" y="1981718"/>
                <a:ext cx="2681028" cy="268102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6380251" y="957511"/>
              <a:ext cx="4424993" cy="4424993"/>
            </p:xfrm>
            <a:graphic>
              <a:graphicData uri="http://schemas.microsoft.com/office/drawing/2017/model3d">
                <am3d:model3d r:embed="rId11">
                  <am3d:spPr>
                    <a:xfrm>
                      <a:off x="6380251" y="957511"/>
                      <a:ext cx="4424993" cy="4424993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20740563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442499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80251" y="957511"/>
                <a:ext cx="4424993" cy="4424993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!!Logotype" descr="Oyster Therapeutic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2148840"/>
            <a:ext cx="4937760" cy="1734183"/>
          </a:xfrm>
          <a:prstGeom prst="rect">
            <a:avLst/>
          </a:prstGeom>
        </p:spPr>
      </p:pic>
      <p:sp>
        <p:nvSpPr>
          <p:cNvPr id="7" name="!!Tagline"/>
          <p:cNvSpPr txBox="1"/>
          <p:nvPr/>
        </p:nvSpPr>
        <p:spPr>
          <a:xfrm>
            <a:off x="640080" y="4111581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SELFTAC®, in motion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748" y="1525560"/>
            <a:ext cx="5230368" cy="523036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6180473" y="694298"/>
              <a:ext cx="4867493" cy="4867493"/>
            </p:xfrm>
            <a:graphic>
              <a:graphicData uri="http://schemas.microsoft.com/office/drawing/2017/model3d">
                <am3d:model3d r:embed="rId8">
                  <am3d:spPr>
                    <a:xfrm>
                      <a:off x="6180473" y="694298"/>
                      <a:ext cx="4867493" cy="4867493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43775" ay="1375099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486749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80473" y="694298"/>
                <a:ext cx="4867493" cy="486749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6760509" y="3588322"/>
              <a:ext cx="1104844" cy="1104844"/>
            </p:xfrm>
            <a:graphic>
              <a:graphicData uri="http://schemas.microsoft.com/office/drawing/2017/model3d">
                <am3d:model3d r:embed="rId9">
                  <am3d:spPr>
                    <a:xfrm>
                      <a:off x="6760509" y="3588322"/>
                      <a:ext cx="1104844" cy="1104844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43775" ay="1375099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10484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Clasp bond" descr="Clasp bond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760509" y="3588322"/>
                <a:ext cx="1104844" cy="110484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5913215" y="1889630"/>
              <a:ext cx="2949131" cy="2949131"/>
            </p:xfrm>
            <a:graphic>
              <a:graphicData uri="http://schemas.microsoft.com/office/drawing/2017/model3d">
                <am3d:model3d r:embed="rId10">
                  <am3d:spPr>
                    <a:xfrm>
                      <a:off x="5913215" y="1889630"/>
                      <a:ext cx="2949131" cy="2949131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43775" ay="1375099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94913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13215" y="1889630"/>
                <a:ext cx="2949131" cy="2949131"/>
              </a:xfrm>
              <a:prstGeom prst="rect">
                <a:avLst/>
              </a:prstGeom>
            </p:spPr>
          </p:pic>
        </mc:Fallback>
      </mc:AlternateContent>
      <p:sp>
        <p:nvSpPr>
          <p:cNvPr id="6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· THE SIZE PROBLEM</a:t>
            </a:r>
            <a:endParaRPr lang="en-US" sz="1100" dirty="0"/>
          </a:p>
        </p:txBody>
      </p:sp>
      <p:sp>
        <p:nvSpPr>
          <p:cNvPr id="7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Protein degraders, made small enough to reach the brain</a:t>
            </a:r>
            <a:endParaRPr lang="en-US" sz="3000" dirty="0"/>
          </a:p>
        </p:txBody>
      </p:sp>
      <p:sp>
        <p:nvSpPr>
          <p:cNvPr id="8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Degraders remove disease-causing proteins instead of blocking them. Most are too large to be taken by mouth or to enter the brain.</a:t>
            </a:r>
            <a:endParaRPr lang="en-US" sz="1500" dirty="0"/>
          </a:p>
        </p:txBody>
      </p:sp>
      <p:sp>
        <p:nvSpPr>
          <p:cNvPr id="9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10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1" name="!!Rail label 0"/>
          <p:cNvSpPr txBox="1"/>
          <p:nvPr/>
        </p:nvSpPr>
        <p:spPr>
          <a:xfrm>
            <a:off x="98755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2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3" name="!!Rail label 1"/>
          <p:cNvSpPr txBox="1"/>
          <p:nvPr/>
        </p:nvSpPr>
        <p:spPr>
          <a:xfrm>
            <a:off x="3108960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14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5" name="!!Rail label 2"/>
          <p:cNvSpPr txBox="1"/>
          <p:nvPr/>
        </p:nvSpPr>
        <p:spPr>
          <a:xfrm>
            <a:off x="5230368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16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7" name="!!Rail label 3"/>
          <p:cNvSpPr txBox="1"/>
          <p:nvPr/>
        </p:nvSpPr>
        <p:spPr>
          <a:xfrm>
            <a:off x="7351776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18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9" name="!!Rail label 4"/>
          <p:cNvSpPr txBox="1"/>
          <p:nvPr/>
        </p:nvSpPr>
        <p:spPr>
          <a:xfrm>
            <a:off x="9473184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20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1" name="!!Rail label 5"/>
          <p:cNvSpPr txBox="1"/>
          <p:nvPr/>
        </p:nvSpPr>
        <p:spPr>
          <a:xfrm>
            <a:off x="1159459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8826394" y="1916202"/>
              <a:ext cx="3318745" cy="3318745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8826394" y="1916202"/>
                      <a:ext cx="3318745" cy="3318745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515662" az="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331874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826394" y="1916202"/>
                <a:ext cx="3318745" cy="331874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4510848" y="1911279"/>
              <a:ext cx="2010771" cy="2010771"/>
            </p:xfrm>
            <a:graphic>
              <a:graphicData uri="http://schemas.microsoft.com/office/drawing/2017/model3d">
                <am3d:model3d r:embed="rId7">
                  <am3d:spPr>
                    <a:xfrm>
                      <a:off x="4510848" y="1911279"/>
                      <a:ext cx="2010771" cy="2010771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515662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201077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0848" y="1911279"/>
                <a:ext cx="2010771" cy="2010771"/>
              </a:xfrm>
              <a:prstGeom prst="rect">
                <a:avLst/>
              </a:prstGeom>
            </p:spPr>
          </p:pic>
        </mc:Fallback>
      </mc:AlternateContent>
      <p:sp>
        <p:nvSpPr>
          <p:cNvPr id="4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· SPLIT</a:t>
            </a:r>
            <a:endParaRPr lang="en-US" sz="1100" dirty="0"/>
          </a:p>
        </p:txBody>
      </p:sp>
      <p:sp>
        <p:nvSpPr>
          <p:cNvPr id="5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One degrader, two small halves</a:t>
            </a:r>
            <a:endParaRPr lang="en-US" sz="3000" dirty="0"/>
          </a:p>
        </p:txBody>
      </p:sp>
      <p:sp>
        <p:nvSpPr>
          <p:cNvPr id="6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reversible linker lets a SELFTAC® molecule travel as two small molecules.</a:t>
            </a:r>
            <a:endParaRPr lang="en-US" sz="1500" dirty="0"/>
          </a:p>
        </p:txBody>
      </p:sp>
      <p:sp>
        <p:nvSpPr>
          <p:cNvPr id="7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8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9" name="!!Rail label 0"/>
          <p:cNvSpPr txBox="1"/>
          <p:nvPr/>
        </p:nvSpPr>
        <p:spPr>
          <a:xfrm>
            <a:off x="98755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0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1" name="!!Rail label 1"/>
          <p:cNvSpPr txBox="1"/>
          <p:nvPr/>
        </p:nvSpPr>
        <p:spPr>
          <a:xfrm>
            <a:off x="3108960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12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3" name="!!Rail label 2"/>
          <p:cNvSpPr txBox="1"/>
          <p:nvPr/>
        </p:nvSpPr>
        <p:spPr>
          <a:xfrm>
            <a:off x="5230368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14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5" name="!!Rail label 3"/>
          <p:cNvSpPr txBox="1"/>
          <p:nvPr/>
        </p:nvSpPr>
        <p:spPr>
          <a:xfrm>
            <a:off x="7351776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16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7" name="!!Rail label 4"/>
          <p:cNvSpPr txBox="1"/>
          <p:nvPr/>
        </p:nvSpPr>
        <p:spPr>
          <a:xfrm>
            <a:off x="9473184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18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9" name="!!Rail label 5"/>
          <p:cNvSpPr txBox="1"/>
          <p:nvPr/>
        </p:nvSpPr>
        <p:spPr>
          <a:xfrm>
            <a:off x="1159459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Membrane0"/>
          <p:cNvSpPr/>
          <p:nvPr/>
        </p:nvSpPr>
        <p:spPr>
          <a:xfrm>
            <a:off x="4983480" y="2743200"/>
            <a:ext cx="3611880" cy="1828800"/>
          </a:xfrm>
          <a:prstGeom prst="roundRect">
            <a:avLst>
              <a:gd name="adj" fmla="val 22500"/>
            </a:avLst>
          </a:prstGeom>
          <a:solidFill>
            <a:srgbClr val="EADADF">
              <a:alpha val="65000"/>
            </a:srgbClr>
          </a:solidFill>
          <a:ln w="12700">
            <a:solidFill>
              <a:srgbClr val="8C5572">
                <a:alpha val="60000"/>
              </a:srgbClr>
            </a:solidFill>
            <a:prstDash val="solid"/>
          </a:ln>
        </p:spPr>
      </p:sp>
      <p:sp>
        <p:nvSpPr>
          <p:cNvPr id="3" name="!!Membrane1"/>
          <p:cNvSpPr/>
          <p:nvPr/>
        </p:nvSpPr>
        <p:spPr>
          <a:xfrm>
            <a:off x="8686800" y="2743200"/>
            <a:ext cx="3611880" cy="1828800"/>
          </a:xfrm>
          <a:prstGeom prst="roundRect">
            <a:avLst>
              <a:gd name="adj" fmla="val 22500"/>
            </a:avLst>
          </a:prstGeom>
          <a:solidFill>
            <a:srgbClr val="EADADF">
              <a:alpha val="65000"/>
            </a:srgbClr>
          </a:solidFill>
          <a:ln w="12700">
            <a:solidFill>
              <a:srgbClr val="8C5572">
                <a:alpha val="60000"/>
              </a:srgbClr>
            </a:solidFill>
            <a:prstDash val="solid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5480811" y="2369749"/>
              <a:ext cx="1340514" cy="1340514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5480811" y="2369749"/>
                      <a:ext cx="1340514" cy="1340514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46986" ay="21256225" az="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134051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480811" y="2369749"/>
                <a:ext cx="1340514" cy="134051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8744683" y="2592997"/>
              <a:ext cx="2212497" cy="2212497"/>
            </p:xfrm>
            <a:graphic>
              <a:graphicData uri="http://schemas.microsoft.com/office/drawing/2017/model3d">
                <am3d:model3d r:embed="rId7">
                  <am3d:spPr>
                    <a:xfrm>
                      <a:off x="8744683" y="2592997"/>
                      <a:ext cx="2212497" cy="2212497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46986" ay="21256225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221249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44683" y="2592997"/>
                <a:ext cx="2212497" cy="2212497"/>
              </a:xfrm>
              <a:prstGeom prst="rect">
                <a:avLst/>
              </a:prstGeom>
            </p:spPr>
          </p:pic>
        </mc:Fallback>
      </mc:AlternateContent>
      <p:sp>
        <p:nvSpPr>
          <p:cNvPr id="6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· THE BARRIER</a:t>
            </a:r>
            <a:endParaRPr lang="en-US" sz="1100" dirty="0"/>
          </a:p>
        </p:txBody>
      </p:sp>
      <p:sp>
        <p:nvSpPr>
          <p:cNvPr id="7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Through the cells, not between them</a:t>
            </a:r>
            <a:endParaRPr lang="en-US" sz="3000" dirty="0"/>
          </a:p>
        </p:txBody>
      </p:sp>
      <p:sp>
        <p:nvSpPr>
          <p:cNvPr id="8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Tight junctions seal the brain’s capillaries. Each half is small enough to pass through the endothelial cells themselves.</a:t>
            </a:r>
            <a:endParaRPr lang="en-US" sz="1500" dirty="0"/>
          </a:p>
        </p:txBody>
      </p:sp>
      <p:sp>
        <p:nvSpPr>
          <p:cNvPr id="9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10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1" name="!!Rail label 0"/>
          <p:cNvSpPr txBox="1"/>
          <p:nvPr/>
        </p:nvSpPr>
        <p:spPr>
          <a:xfrm>
            <a:off x="98755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2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3" name="!!Rail label 1"/>
          <p:cNvSpPr txBox="1"/>
          <p:nvPr/>
        </p:nvSpPr>
        <p:spPr>
          <a:xfrm>
            <a:off x="3108960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14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5" name="!!Rail label 2"/>
          <p:cNvSpPr txBox="1"/>
          <p:nvPr/>
        </p:nvSpPr>
        <p:spPr>
          <a:xfrm>
            <a:off x="5230368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16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7" name="!!Rail label 3"/>
          <p:cNvSpPr txBox="1"/>
          <p:nvPr/>
        </p:nvSpPr>
        <p:spPr>
          <a:xfrm>
            <a:off x="7351776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18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19" name="!!Rail label 4"/>
          <p:cNvSpPr txBox="1"/>
          <p:nvPr/>
        </p:nvSpPr>
        <p:spPr>
          <a:xfrm>
            <a:off x="9473184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20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1" name="!!Rail label 5"/>
          <p:cNvSpPr txBox="1"/>
          <p:nvPr/>
        </p:nvSpPr>
        <p:spPr>
          <a:xfrm>
            <a:off x="1159459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845" y="2985657"/>
            <a:ext cx="1450238" cy="145023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7205792" y="3557604"/>
              <a:ext cx="306343" cy="306343"/>
            </p:xfrm>
            <a:graphic>
              <a:graphicData uri="http://schemas.microsoft.com/office/drawing/2017/model3d">
                <am3d:model3d r:embed="rId10">
                  <am3d:spPr>
                    <a:xfrm>
                      <a:off x="7205792" y="3557604"/>
                      <a:ext cx="306343" cy="306343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41253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30634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Clasp bond" descr="Clasp bond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05792" y="3557604"/>
                <a:ext cx="306343" cy="3063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7052383" y="2763150"/>
              <a:ext cx="1349623" cy="1349623"/>
            </p:xfrm>
            <a:graphic>
              <a:graphicData uri="http://schemas.microsoft.com/office/drawing/2017/model3d">
                <am3d:model3d r:embed="rId11">
                  <am3d:spPr>
                    <a:xfrm>
                      <a:off x="7052383" y="2763150"/>
                      <a:ext cx="1349623" cy="1349623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41253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34962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52383" y="2763150"/>
                <a:ext cx="1349623" cy="134962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6950310" y="3082352"/>
              <a:ext cx="817714" cy="817714"/>
            </p:xfrm>
            <a:graphic>
              <a:graphicData uri="http://schemas.microsoft.com/office/drawing/2017/model3d">
                <am3d:model3d r:embed="rId12">
                  <am3d:spPr>
                    <a:xfrm>
                      <a:off x="6950310" y="3082352"/>
                      <a:ext cx="817714" cy="817714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41253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1771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950310" y="3082352"/>
                <a:ext cx="817714" cy="81771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!!BRD4" descr="BRD4 (3D model)"/>
              <p:cNvGraphicFramePr>
                <a:graphicFrameLocks noGrp="1" noChangeAspect="1"/>
              </p:cNvGraphicFramePr>
              <p:nvPr/>
            </p:nvGraphicFramePr>
            <p:xfrm>
              <a:off x="3997348" y="1143833"/>
              <a:ext cx="4561250" cy="4561250"/>
            </p:xfrm>
            <a:graphic>
              <a:graphicData uri="http://schemas.microsoft.com/office/drawing/2017/model3d">
                <am3d:model3d r:embed="rId13">
                  <am3d:spPr>
                    <a:xfrm>
                      <a:off x="3997348" y="1143833"/>
                      <a:ext cx="4561250" cy="4561250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23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41253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45612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!!BRD4" descr="BRD4 (3D model)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997348" y="1143833"/>
                <a:ext cx="4561250" cy="45612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!!VHL complex" descr="VHL complex (3D model)"/>
              <p:cNvGraphicFramePr>
                <a:graphicFrameLocks noGrp="1" noChangeAspect="1"/>
              </p:cNvGraphicFramePr>
              <p:nvPr/>
            </p:nvGraphicFramePr>
            <p:xfrm>
              <a:off x="6068474" y="-587770"/>
              <a:ext cx="7311105" cy="7311105"/>
            </p:xfrm>
            <a:graphic>
              <a:graphicData uri="http://schemas.microsoft.com/office/drawing/2017/model3d">
                <am3d:model3d r:embed="rId14">
                  <am3d:spPr>
                    <a:xfrm>
                      <a:off x="6068474" y="-587770"/>
                      <a:ext cx="7311105" cy="7311105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20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41253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731110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!!VHL complex" descr="VHL complex (3D model)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068474" y="-587770"/>
                <a:ext cx="7311105" cy="7311105"/>
              </a:xfrm>
              <a:prstGeom prst="rect">
                <a:avLst/>
              </a:prstGeom>
            </p:spPr>
          </p:pic>
        </mc:Fallback>
      </mc:AlternateContent>
      <p:sp>
        <p:nvSpPr>
          <p:cNvPr id="8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· REBUILT</a:t>
            </a:r>
            <a:endParaRPr lang="en-US" sz="1100" dirty="0"/>
          </a:p>
        </p:txBody>
      </p:sp>
      <p:sp>
        <p:nvSpPr>
          <p:cNvPr id="9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Inside the neuron, the halves click back together</a:t>
            </a:r>
            <a:endParaRPr lang="en-US" sz="3000" dirty="0"/>
          </a:p>
        </p:txBody>
      </p:sp>
      <p:sp>
        <p:nvSpPr>
          <p:cNvPr id="10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end holds the target protein, the other an E3 ligase. The clasp closes between them.</a:t>
            </a:r>
            <a:endParaRPr lang="en-US" sz="1500" dirty="0"/>
          </a:p>
        </p:txBody>
      </p:sp>
      <p:sp>
        <p:nvSpPr>
          <p:cNvPr id="11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12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3" name="!!Rail label 0"/>
          <p:cNvSpPr txBox="1"/>
          <p:nvPr/>
        </p:nvSpPr>
        <p:spPr>
          <a:xfrm>
            <a:off x="98755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4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5" name="!!Rail label 1"/>
          <p:cNvSpPr txBox="1"/>
          <p:nvPr/>
        </p:nvSpPr>
        <p:spPr>
          <a:xfrm>
            <a:off x="3108960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16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7" name="!!Rail label 2"/>
          <p:cNvSpPr txBox="1"/>
          <p:nvPr/>
        </p:nvSpPr>
        <p:spPr>
          <a:xfrm>
            <a:off x="5230368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18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D9A443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9" name="!!Rail label 3"/>
          <p:cNvSpPr txBox="1"/>
          <p:nvPr/>
        </p:nvSpPr>
        <p:spPr>
          <a:xfrm>
            <a:off x="7351776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20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1" name="!!Rail label 4"/>
          <p:cNvSpPr txBox="1"/>
          <p:nvPr/>
        </p:nvSpPr>
        <p:spPr>
          <a:xfrm>
            <a:off x="9473184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22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3" name="!!Rail label 5"/>
          <p:cNvSpPr txBox="1"/>
          <p:nvPr/>
        </p:nvSpPr>
        <p:spPr>
          <a:xfrm>
            <a:off x="1159459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616" y="2962838"/>
            <a:ext cx="1450238" cy="145023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Ubiquitin 1" descr="Ubiquitin 1 (3D model)"/>
              <p:cNvGraphicFramePr>
                <a:graphicFrameLocks noGrp="1" noChangeAspect="1"/>
              </p:cNvGraphicFramePr>
              <p:nvPr/>
            </p:nvGraphicFramePr>
            <p:xfrm>
              <a:off x="6907473" y="1785227"/>
              <a:ext cx="1144244" cy="1144244"/>
            </p:xfrm>
            <a:graphic>
              <a:graphicData uri="http://schemas.microsoft.com/office/drawing/2017/model3d">
                <am3d:model3d r:embed="rId15">
                  <am3d:spPr>
                    <a:xfrm>
                      <a:off x="6907473" y="1785227"/>
                      <a:ext cx="1144244" cy="1144244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14424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Ubiquitin 1" descr="Ubiquitin 1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07473" y="1785227"/>
                <a:ext cx="1144244" cy="114424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Ubiquitin 3" descr="Ubiquitin 3 (3D model)"/>
              <p:cNvGraphicFramePr>
                <a:graphicFrameLocks noGrp="1" noChangeAspect="1"/>
              </p:cNvGraphicFramePr>
              <p:nvPr/>
            </p:nvGraphicFramePr>
            <p:xfrm>
              <a:off x="6740171" y="1062694"/>
              <a:ext cx="1144244" cy="1144244"/>
            </p:xfrm>
            <a:graphic>
              <a:graphicData uri="http://schemas.microsoft.com/office/drawing/2017/model3d">
                <am3d:model3d r:embed="rId16">
                  <am3d:spPr>
                    <a:xfrm>
                      <a:off x="6740171" y="1062694"/>
                      <a:ext cx="1144244" cy="1144244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14424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Ubiquitin 3" descr="Ubiquitin 3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740171" y="1062694"/>
                <a:ext cx="1144244" cy="114424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7265564" y="3534785"/>
              <a:ext cx="306343" cy="306343"/>
            </p:xfrm>
            <a:graphic>
              <a:graphicData uri="http://schemas.microsoft.com/office/drawing/2017/model3d">
                <am3d:model3d r:embed="rId17">
                  <am3d:spPr>
                    <a:xfrm>
                      <a:off x="7265564" y="3534785"/>
                      <a:ext cx="306343" cy="306343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30634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lasp bond" descr="Clasp bond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265564" y="3534785"/>
                <a:ext cx="306343" cy="3063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7107814" y="2744544"/>
              <a:ext cx="1349623" cy="1349623"/>
            </p:xfrm>
            <a:graphic>
              <a:graphicData uri="http://schemas.microsoft.com/office/drawing/2017/model3d">
                <am3d:model3d r:embed="rId18">
                  <am3d:spPr>
                    <a:xfrm>
                      <a:off x="7107814" y="2744544"/>
                      <a:ext cx="1349623" cy="1349623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134962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07814" y="2744544"/>
                <a:ext cx="1349623" cy="134962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7002654" y="3062168"/>
              <a:ext cx="817714" cy="817714"/>
            </p:xfrm>
            <a:graphic>
              <a:graphicData uri="http://schemas.microsoft.com/office/drawing/2017/model3d">
                <am3d:model3d r:embed="rId19">
                  <am3d:spPr>
                    <a:xfrm>
                      <a:off x="7002654" y="3062168"/>
                      <a:ext cx="817714" cy="817714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81771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002654" y="3062168"/>
                <a:ext cx="817714" cy="81771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" name="!!Ubiquitin 2" descr="Ubiquitin 2 (3D model)"/>
              <p:cNvGraphicFramePr>
                <a:graphicFrameLocks noGrp="1" noChangeAspect="1"/>
              </p:cNvGraphicFramePr>
              <p:nvPr/>
            </p:nvGraphicFramePr>
            <p:xfrm>
              <a:off x="6830515" y="1450700"/>
              <a:ext cx="1144244" cy="1144244"/>
            </p:xfrm>
            <a:graphic>
              <a:graphicData uri="http://schemas.microsoft.com/office/drawing/2017/model3d">
                <am3d:model3d r:embed="rId20">
                  <am3d:spPr>
                    <a:xfrm>
                      <a:off x="6830515" y="1450700"/>
                      <a:ext cx="1144244" cy="1144244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114424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" name="!!Ubiquitin 2" descr="Ubiquitin 2 (3D model)">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830515" y="1450700"/>
                <a:ext cx="1144244" cy="114424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!!Ubiquitin 4" descr="Ubiquitin 4 (3D model)"/>
              <p:cNvGraphicFramePr>
                <a:graphicFrameLocks noGrp="1" noChangeAspect="1"/>
              </p:cNvGraphicFramePr>
              <p:nvPr/>
            </p:nvGraphicFramePr>
            <p:xfrm>
              <a:off x="6663213" y="728167"/>
              <a:ext cx="1144244" cy="1144244"/>
            </p:xfrm>
            <a:graphic>
              <a:graphicData uri="http://schemas.microsoft.com/office/drawing/2017/model3d">
                <am3d:model3d r:embed="rId21">
                  <am3d:spPr>
                    <a:xfrm>
                      <a:off x="6663213" y="728167"/>
                      <a:ext cx="1144244" cy="1144244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114424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!!Ubiquitin 4" descr="Ubiquitin 4 (3D model)">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663213" y="728167"/>
                <a:ext cx="1144244" cy="114424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" name="!!BRD4" descr="BRD4 (3D model)"/>
              <p:cNvGraphicFramePr>
                <a:graphicFrameLocks noGrp="1" noChangeAspect="1"/>
              </p:cNvGraphicFramePr>
              <p:nvPr/>
            </p:nvGraphicFramePr>
            <p:xfrm>
              <a:off x="4022248" y="1124902"/>
              <a:ext cx="4561250" cy="4561250"/>
            </p:xfrm>
            <a:graphic>
              <a:graphicData uri="http://schemas.microsoft.com/office/drawing/2017/model3d">
                <am3d:model3d r:embed="rId22">
                  <am3d:spPr>
                    <a:xfrm>
                      <a:off x="4022248" y="1124902"/>
                      <a:ext cx="4561250" cy="4561250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23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10"/>
                  </am3d:raster>
                  <am3d:objViewport viewportSz="45612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" name="!!BRD4" descr="BRD4 (3D model)">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022248" y="1124902"/>
                <a:ext cx="4561250" cy="45612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!!E2 enzyme" descr="E2 enzyme (3D model)"/>
              <p:cNvGraphicFramePr>
                <a:graphicFrameLocks noGrp="1" noChangeAspect="1"/>
              </p:cNvGraphicFramePr>
              <p:nvPr/>
            </p:nvGraphicFramePr>
            <p:xfrm>
              <a:off x="7062419" y="213067"/>
              <a:ext cx="3164648" cy="3164648"/>
            </p:xfrm>
            <a:graphic>
              <a:graphicData uri="http://schemas.microsoft.com/office/drawing/2017/model3d">
                <am3d:model3d r:embed="rId23">
                  <am3d:spPr>
                    <a:xfrm>
                      <a:off x="7062419" y="213067"/>
                      <a:ext cx="3164648" cy="3164648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772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11"/>
                  </am3d:raster>
                  <am3d:objViewport viewportSz="316464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!!E2 enzyme" descr="E2 enzyme (3D model)">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062419" y="213067"/>
                <a:ext cx="3164648" cy="31646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2" name="!!VHL complex" descr="VHL complex (3D model)"/>
              <p:cNvGraphicFramePr>
                <a:graphicFrameLocks noGrp="1" noChangeAspect="1"/>
              </p:cNvGraphicFramePr>
              <p:nvPr/>
            </p:nvGraphicFramePr>
            <p:xfrm>
              <a:off x="6043574" y="-568840"/>
              <a:ext cx="7311105" cy="7311105"/>
            </p:xfrm>
            <a:graphic>
              <a:graphicData uri="http://schemas.microsoft.com/office/drawing/2017/model3d">
                <am3d:model3d r:embed="rId24">
                  <am3d:spPr>
                    <a:xfrm>
                      <a:off x="6043574" y="-568840"/>
                      <a:ext cx="7311105" cy="7311105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20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68755" az="0"/>
                    <am3d:postTrans dx="0" dy="0" dz="0"/>
                  </am3d:trans>
                  <am3d:raster rName="Office3DRenderer" rVer="16.0.8326">
                    <am3d:blip r:embed="rId12"/>
                  </am3d:raster>
                  <am3d:objViewport viewportSz="731110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2" name="!!VHL complex" descr="VHL complex (3D model)">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043574" y="-568840"/>
                <a:ext cx="7311105" cy="7311105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· CLEARED</a:t>
            </a:r>
            <a:endParaRPr lang="en-US" sz="1100" dirty="0"/>
          </a:p>
        </p:txBody>
      </p:sp>
      <p:sp>
        <p:nvSpPr>
          <p:cNvPr id="14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Tagged, then destroyed</a:t>
            </a:r>
            <a:endParaRPr lang="en-US" sz="3000" dirty="0"/>
          </a:p>
        </p:txBody>
      </p:sp>
      <p:sp>
        <p:nvSpPr>
          <p:cNvPr id="15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 E2 enzyme docks on the ligase and hands ubiquitin, one unit at a time, onto the target.</a:t>
            </a:r>
            <a:endParaRPr lang="en-US" sz="1500" dirty="0"/>
          </a:p>
        </p:txBody>
      </p:sp>
      <p:sp>
        <p:nvSpPr>
          <p:cNvPr id="16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17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8" name="!!Rail label 0"/>
          <p:cNvSpPr txBox="1"/>
          <p:nvPr/>
        </p:nvSpPr>
        <p:spPr>
          <a:xfrm>
            <a:off x="98755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9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0" name="!!Rail label 1"/>
          <p:cNvSpPr txBox="1"/>
          <p:nvPr/>
        </p:nvSpPr>
        <p:spPr>
          <a:xfrm>
            <a:off x="3108960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21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2" name="!!Rail label 2"/>
          <p:cNvSpPr txBox="1"/>
          <p:nvPr/>
        </p:nvSpPr>
        <p:spPr>
          <a:xfrm>
            <a:off x="5230368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23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D9A443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4" name="!!Rail label 3"/>
          <p:cNvSpPr txBox="1"/>
          <p:nvPr/>
        </p:nvSpPr>
        <p:spPr>
          <a:xfrm>
            <a:off x="7351776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25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6" name="!!Rail label 4"/>
          <p:cNvSpPr txBox="1"/>
          <p:nvPr/>
        </p:nvSpPr>
        <p:spPr>
          <a:xfrm>
            <a:off x="9473184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27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8" name="!!Rail label 5"/>
          <p:cNvSpPr txBox="1"/>
          <p:nvPr/>
        </p:nvSpPr>
        <p:spPr>
          <a:xfrm>
            <a:off x="1159459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7553" y="2429892"/>
            <a:ext cx="1117397" cy="1117397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BRD4 second" descr="BRD4 second (3D model)"/>
              <p:cNvGraphicFramePr>
                <a:graphicFrameLocks noGrp="1" noChangeAspect="1"/>
              </p:cNvGraphicFramePr>
              <p:nvPr/>
            </p:nvGraphicFramePr>
            <p:xfrm>
              <a:off x="4616983" y="6142772"/>
              <a:ext cx="3514406" cy="3514406"/>
            </p:xfrm>
            <a:graphic>
              <a:graphicData uri="http://schemas.microsoft.com/office/drawing/2017/model3d">
                <am3d:model3d r:embed="rId16">
                  <am3d:spPr>
                    <a:xfrm>
                      <a:off x="4616983" y="6142772"/>
                      <a:ext cx="3514406" cy="3514406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23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351440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BRD4 second" descr="BRD4 second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16983" y="6142772"/>
                <a:ext cx="3514406" cy="35144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8418234" y="2870573"/>
              <a:ext cx="236035" cy="236035"/>
            </p:xfrm>
            <a:graphic>
              <a:graphicData uri="http://schemas.microsoft.com/office/drawing/2017/model3d">
                <am3d:model3d r:embed="rId17">
                  <am3d:spPr>
                    <a:xfrm>
                      <a:off x="8418234" y="2870573"/>
                      <a:ext cx="236035" cy="236035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3603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Clasp bond" descr="Clasp bond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418234" y="2870573"/>
                <a:ext cx="236035" cy="2360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8211123" y="2506375"/>
              <a:ext cx="630042" cy="630042"/>
            </p:xfrm>
            <a:graphic>
              <a:graphicData uri="http://schemas.microsoft.com/office/drawing/2017/model3d">
                <am3d:model3d r:embed="rId18">
                  <am3d:spPr>
                    <a:xfrm>
                      <a:off x="8211123" y="2506375"/>
                      <a:ext cx="630042" cy="630042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63004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11123" y="2506375"/>
                <a:ext cx="630042" cy="63004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8291995" y="2263477"/>
              <a:ext cx="1039873" cy="1039873"/>
            </p:xfrm>
            <a:graphic>
              <a:graphicData uri="http://schemas.microsoft.com/office/drawing/2017/model3d">
                <am3d:model3d r:embed="rId19">
                  <am3d:spPr>
                    <a:xfrm>
                      <a:off x="8291995" y="2263477"/>
                      <a:ext cx="1039873" cy="1039873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103987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291995" y="2263477"/>
                <a:ext cx="1039873" cy="103987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!!Proteasome" descr="Proteasome (3D model)"/>
              <p:cNvGraphicFramePr>
                <a:graphicFrameLocks noGrp="1" noChangeAspect="1"/>
              </p:cNvGraphicFramePr>
              <p:nvPr/>
            </p:nvGraphicFramePr>
            <p:xfrm>
              <a:off x="4381214" y="2704934"/>
              <a:ext cx="3807615" cy="3807615"/>
            </p:xfrm>
            <a:graphic>
              <a:graphicData uri="http://schemas.microsoft.com/office/drawing/2017/model3d">
                <am3d:model3d r:embed="rId20">
                  <am3d:spPr>
                    <a:xfrm>
                      <a:off x="4381214" y="2704934"/>
                      <a:ext cx="3807615" cy="3807615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775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380761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!!Proteasome" descr="Proteasome (3D model)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381214" y="2704934"/>
                <a:ext cx="3807615" cy="38076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" name="!!BRD4" descr="BRD4 (3D model)"/>
              <p:cNvGraphicFramePr>
                <a:graphicFrameLocks noGrp="1" noChangeAspect="1"/>
              </p:cNvGraphicFramePr>
              <p:nvPr/>
            </p:nvGraphicFramePr>
            <p:xfrm>
              <a:off x="6499029" y="4139361"/>
              <a:ext cx="773169" cy="773169"/>
            </p:xfrm>
            <a:graphic>
              <a:graphicData uri="http://schemas.microsoft.com/office/drawing/2017/model3d">
                <am3d:model3d r:embed="rId21">
                  <am3d:spPr>
                    <a:xfrm>
                      <a:off x="6499029" y="4139361"/>
                      <a:ext cx="773169" cy="773169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23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77316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" name="!!BRD4" descr="BRD4 (3D model)">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499029" y="4139361"/>
                <a:ext cx="773169" cy="7731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!!Ubiquitin 1" descr="Ubiquitin 1 (3D model)"/>
              <p:cNvGraphicFramePr>
                <a:graphicFrameLocks noGrp="1" noChangeAspect="1"/>
              </p:cNvGraphicFramePr>
              <p:nvPr/>
            </p:nvGraphicFramePr>
            <p:xfrm>
              <a:off x="6696693" y="4337025"/>
              <a:ext cx="377842" cy="377842"/>
            </p:xfrm>
            <a:graphic>
              <a:graphicData uri="http://schemas.microsoft.com/office/drawing/2017/model3d">
                <am3d:model3d r:embed="rId22">
                  <am3d:spPr>
                    <a:xfrm>
                      <a:off x="6696693" y="4337025"/>
                      <a:ext cx="377842" cy="377842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37784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!!Ubiquitin 1" descr="Ubiquitin 1 (3D model)">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696693" y="4337025"/>
                <a:ext cx="377842" cy="37784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" name="!!Ubiquitin 2" descr="Ubiquitin 2 (3D model)"/>
              <p:cNvGraphicFramePr>
                <a:graphicFrameLocks noGrp="1" noChangeAspect="1"/>
              </p:cNvGraphicFramePr>
              <p:nvPr/>
            </p:nvGraphicFramePr>
            <p:xfrm>
              <a:off x="6696693" y="4337025"/>
              <a:ext cx="377842" cy="377842"/>
            </p:xfrm>
            <a:graphic>
              <a:graphicData uri="http://schemas.microsoft.com/office/drawing/2017/model3d">
                <am3d:model3d r:embed="rId23">
                  <am3d:spPr>
                    <a:xfrm>
                      <a:off x="6696693" y="4337025"/>
                      <a:ext cx="377842" cy="377842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10"/>
                  </am3d:raster>
                  <am3d:objViewport viewportSz="37784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" name="!!Ubiquitin 2" descr="Ubiquitin 2 (3D model)">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696693" y="4337025"/>
                <a:ext cx="377842" cy="37784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!!Ubiquitin 3" descr="Ubiquitin 3 (3D model)"/>
              <p:cNvGraphicFramePr>
                <a:graphicFrameLocks noGrp="1" noChangeAspect="1"/>
              </p:cNvGraphicFramePr>
              <p:nvPr/>
            </p:nvGraphicFramePr>
            <p:xfrm>
              <a:off x="6696693" y="4337025"/>
              <a:ext cx="377842" cy="377842"/>
            </p:xfrm>
            <a:graphic>
              <a:graphicData uri="http://schemas.microsoft.com/office/drawing/2017/model3d">
                <am3d:model3d r:embed="rId24">
                  <am3d:spPr>
                    <a:xfrm>
                      <a:off x="6696693" y="4337025"/>
                      <a:ext cx="377842" cy="377842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11"/>
                  </am3d:raster>
                  <am3d:objViewport viewportSz="37784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!!Ubiquitin 3" descr="Ubiquitin 3 (3D model)">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696693" y="4337025"/>
                <a:ext cx="377842" cy="37784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2" name="!!Ubiquitin 4" descr="Ubiquitin 4 (3D model)"/>
              <p:cNvGraphicFramePr>
                <a:graphicFrameLocks noGrp="1" noChangeAspect="1"/>
              </p:cNvGraphicFramePr>
              <p:nvPr/>
            </p:nvGraphicFramePr>
            <p:xfrm>
              <a:off x="6696693" y="4337025"/>
              <a:ext cx="377842" cy="377842"/>
            </p:xfrm>
            <a:graphic>
              <a:graphicData uri="http://schemas.microsoft.com/office/drawing/2017/model3d">
                <am3d:model3d r:embed="rId25">
                  <am3d:spPr>
                    <a:xfrm>
                      <a:off x="6696693" y="4337025"/>
                      <a:ext cx="377842" cy="377842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367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12"/>
                  </am3d:raster>
                  <am3d:objViewport viewportSz="37784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2" name="!!Ubiquitin 4" descr="Ubiquitin 4 (3D model)">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696693" y="4337025"/>
                <a:ext cx="377842" cy="37784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!!VHL complex" descr="VHL complex (3D model)"/>
              <p:cNvGraphicFramePr>
                <a:graphicFrameLocks noGrp="1" noChangeAspect="1"/>
              </p:cNvGraphicFramePr>
              <p:nvPr/>
            </p:nvGraphicFramePr>
            <p:xfrm>
              <a:off x="7411833" y="-280205"/>
              <a:ext cx="5633146" cy="5633146"/>
            </p:xfrm>
            <a:graphic>
              <a:graphicData uri="http://schemas.microsoft.com/office/drawing/2017/model3d">
                <am3d:model3d r:embed="rId26">
                  <am3d:spPr>
                    <a:xfrm>
                      <a:off x="7411833" y="-280205"/>
                      <a:ext cx="5633146" cy="5633146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20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275020" ay="21393735" az="0"/>
                    <am3d:postTrans dx="0" dy="0" dz="0"/>
                  </am3d:trans>
                  <am3d:raster rName="Office3DRenderer" rVer="16.0.8326">
                    <am3d:blip r:embed="rId13"/>
                  </am3d:raster>
                  <am3d:objViewport viewportSz="563314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!!VHL complex" descr="VHL complex (3D model)">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411833" y="-280205"/>
                <a:ext cx="5633146" cy="5633146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· CLEARED</a:t>
            </a:r>
            <a:endParaRPr lang="en-US" sz="1100" dirty="0"/>
          </a:p>
        </p:txBody>
      </p:sp>
      <p:sp>
        <p:nvSpPr>
          <p:cNvPr id="15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proteasome breaks the target down</a:t>
            </a:r>
            <a:endParaRPr lang="en-US" sz="3000" dirty="0"/>
          </a:p>
        </p:txBody>
      </p:sp>
      <p:sp>
        <p:nvSpPr>
          <p:cNvPr id="16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It reads the ubiquitin chain, draws the target in and recycles it.</a:t>
            </a:r>
            <a:endParaRPr lang="en-US" sz="1500" dirty="0"/>
          </a:p>
        </p:txBody>
      </p:sp>
      <p:sp>
        <p:nvSpPr>
          <p:cNvPr id="17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18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9" name="!!Rail label 0"/>
          <p:cNvSpPr txBox="1"/>
          <p:nvPr/>
        </p:nvSpPr>
        <p:spPr>
          <a:xfrm>
            <a:off x="98755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20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1" name="!!Rail label 1"/>
          <p:cNvSpPr txBox="1"/>
          <p:nvPr/>
        </p:nvSpPr>
        <p:spPr>
          <a:xfrm>
            <a:off x="3108960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22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3" name="!!Rail label 2"/>
          <p:cNvSpPr txBox="1"/>
          <p:nvPr/>
        </p:nvSpPr>
        <p:spPr>
          <a:xfrm>
            <a:off x="5230368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24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D9A443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5" name="!!Rail label 3"/>
          <p:cNvSpPr txBox="1"/>
          <p:nvPr/>
        </p:nvSpPr>
        <p:spPr>
          <a:xfrm>
            <a:off x="7351776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26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7" name="!!Rail label 4"/>
          <p:cNvSpPr txBox="1"/>
          <p:nvPr/>
        </p:nvSpPr>
        <p:spPr>
          <a:xfrm>
            <a:off x="9473184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28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6EEEC">
              <a:alpha val="0"/>
            </a:srgbClr>
          </a:solidFill>
          <a:ln w="13970">
            <a:solidFill>
              <a:srgbClr val="2B2230">
                <a:alpha val="50000"/>
              </a:srgbClr>
            </a:solidFill>
            <a:prstDash val="solid"/>
          </a:ln>
        </p:spPr>
      </p:sp>
      <p:sp>
        <p:nvSpPr>
          <p:cNvPr id="29" name="!!Rail label 5"/>
          <p:cNvSpPr txBox="1"/>
          <p:nvPr/>
        </p:nvSpPr>
        <p:spPr>
          <a:xfrm>
            <a:off x="1159459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lasp glow" descr="Glow around the clas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304" y="2985020"/>
            <a:ext cx="1450238" cy="145023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!!Clasp bond" descr="Clasp bond (3D model)"/>
              <p:cNvGraphicFramePr>
                <a:graphicFrameLocks noGrp="1" noChangeAspect="1"/>
              </p:cNvGraphicFramePr>
              <p:nvPr/>
            </p:nvGraphicFramePr>
            <p:xfrm>
              <a:off x="7217252" y="3556968"/>
              <a:ext cx="306343" cy="306343"/>
            </p:xfrm>
            <a:graphic>
              <a:graphicData uri="http://schemas.microsoft.com/office/drawing/2017/model3d">
                <am3d:model3d r:embed="rId10">
                  <am3d:spPr>
                    <a:xfrm>
                      <a:off x="7217252" y="3556968"/>
                      <a:ext cx="306343" cy="306343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86415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343775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30634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!!Clasp bond" descr="Clasp bond (3D model)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17252" y="3556968"/>
                <a:ext cx="306343" cy="3063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Degrader half B" descr="Degrader half B (3D model)"/>
              <p:cNvGraphicFramePr>
                <a:graphicFrameLocks noGrp="1" noChangeAspect="1"/>
              </p:cNvGraphicFramePr>
              <p:nvPr/>
            </p:nvGraphicFramePr>
            <p:xfrm>
              <a:off x="7063268" y="2762882"/>
              <a:ext cx="1349623" cy="1349623"/>
            </p:xfrm>
            <a:graphic>
              <a:graphicData uri="http://schemas.microsoft.com/office/drawing/2017/model3d">
                <am3d:model3d r:embed="rId11">
                  <am3d:spPr>
                    <a:xfrm>
                      <a:off x="7063268" y="2762882"/>
                      <a:ext cx="1349623" cy="1349623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5012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343775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34962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Degrader half B" descr="Degrader half B (3D model)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63268" y="2762882"/>
                <a:ext cx="1349623" cy="134962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Degrader half A" descr="Degrader half A (3D model)"/>
              <p:cNvGraphicFramePr>
                <a:graphicFrameLocks noGrp="1" noChangeAspect="1"/>
              </p:cNvGraphicFramePr>
              <p:nvPr/>
            </p:nvGraphicFramePr>
            <p:xfrm>
              <a:off x="6960282" y="3081715"/>
              <a:ext cx="817714" cy="817714"/>
            </p:xfrm>
            <a:graphic>
              <a:graphicData uri="http://schemas.microsoft.com/office/drawing/2017/model3d">
                <am3d:model3d r:embed="rId12">
                  <am3d:spPr>
                    <a:xfrm>
                      <a:off x="6960282" y="3081715"/>
                      <a:ext cx="817714" cy="817714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73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343775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1771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Degrader half A" descr="Degrader half A (3D model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960282" y="3081715"/>
                <a:ext cx="817714" cy="81771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!!BRD4 second" descr="BRD4 second (3D model)"/>
              <p:cNvGraphicFramePr>
                <a:graphicFrameLocks noGrp="1" noChangeAspect="1"/>
              </p:cNvGraphicFramePr>
              <p:nvPr/>
            </p:nvGraphicFramePr>
            <p:xfrm>
              <a:off x="4000957" y="1142112"/>
              <a:ext cx="4561250" cy="4561250"/>
            </p:xfrm>
            <a:graphic>
              <a:graphicData uri="http://schemas.microsoft.com/office/drawing/2017/model3d">
                <am3d:model3d r:embed="rId13">
                  <am3d:spPr>
                    <a:xfrm>
                      <a:off x="4000957" y="1142112"/>
                      <a:ext cx="4561250" cy="4561250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236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343775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45612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!!BRD4 second" descr="BRD4 second (3D model)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000957" y="1142112"/>
                <a:ext cx="4561250" cy="45612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!!VHL complex" descr="VHL complex (3D model)"/>
              <p:cNvGraphicFramePr>
                <a:graphicFrameLocks noGrp="1" noChangeAspect="1"/>
              </p:cNvGraphicFramePr>
              <p:nvPr/>
            </p:nvGraphicFramePr>
            <p:xfrm>
              <a:off x="6064866" y="-586050"/>
              <a:ext cx="7311105" cy="7311105"/>
            </p:xfrm>
            <a:graphic>
              <a:graphicData uri="http://schemas.microsoft.com/office/drawing/2017/model3d">
                <am3d:model3d r:embed="rId14">
                  <am3d:spPr>
                    <a:xfrm>
                      <a:off x="6064866" y="-586050"/>
                      <a:ext cx="7311105" cy="7311105"/>
                    </a:xfrm>
                    <a:prstGeom prst="rect">
                      <a:avLst/>
                    </a:prstGeom>
                  </am3d:spPr>
                  <am3d:camera>
                    <am3d:pos x="0" y="0" z="7310052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200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71887" ay="343775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731110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100000" b="10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100000" g="100000" b="100000"/>
                    </am3d:clr>
                    <am3d:intensity n="6250000" d="1000000"/>
                    <am3d:pos x="-37964106" y="51130435" z="57631972"/>
                  </am3d:ptLight>
                  <am3d:ptLight rad="0">
                    <am3d:clr>
                      <a:scrgbClr r="100000" g="1000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!!VHL complex" descr="VHL complex (3D model)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064866" y="-586050"/>
                <a:ext cx="7311105" cy="7311105"/>
              </a:xfrm>
              <a:prstGeom prst="rect">
                <a:avLst/>
              </a:prstGeom>
            </p:spPr>
          </p:pic>
        </mc:Fallback>
      </mc:AlternateContent>
      <p:sp>
        <p:nvSpPr>
          <p:cNvPr id="8" name="Eyebrow"/>
          <p:cNvSpPr txBox="1"/>
          <p:nvPr/>
        </p:nvSpPr>
        <p:spPr>
          <a:xfrm>
            <a:off x="640080" y="1417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· AGAIN</a:t>
            </a:r>
            <a:endParaRPr lang="en-US" sz="1100" dirty="0"/>
          </a:p>
        </p:txBody>
      </p:sp>
      <p:sp>
        <p:nvSpPr>
          <p:cNvPr id="9" name="Title"/>
          <p:cNvSpPr txBox="1"/>
          <p:nvPr/>
        </p:nvSpPr>
        <p:spPr>
          <a:xfrm>
            <a:off x="640080" y="17830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Then it does it again</a:t>
            </a:r>
            <a:endParaRPr lang="en-US" sz="3000" dirty="0"/>
          </a:p>
        </p:txBody>
      </p:sp>
      <p:sp>
        <p:nvSpPr>
          <p:cNvPr id="10" name="Body"/>
          <p:cNvSpPr txBox="1"/>
          <p:nvPr/>
        </p:nvSpPr>
        <p:spPr>
          <a:xfrm>
            <a:off x="640080" y="39319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degrader is not used up. It lets go and catches the next one, so one molecule can clear many.</a:t>
            </a:r>
            <a:endParaRPr lang="en-US" sz="1500" dirty="0"/>
          </a:p>
        </p:txBody>
      </p:sp>
      <p:sp>
        <p:nvSpPr>
          <p:cNvPr id="11" name="!!Rail line"/>
          <p:cNvSpPr/>
          <p:nvPr/>
        </p:nvSpPr>
        <p:spPr>
          <a:xfrm>
            <a:off x="777240" y="6272784"/>
            <a:ext cx="10607040" cy="0"/>
          </a:xfrm>
          <a:prstGeom prst="line">
            <a:avLst/>
          </a:prstGeom>
          <a:noFill/>
          <a:ln w="9525">
            <a:solidFill>
              <a:srgbClr val="2B2230">
                <a:alpha val="30000"/>
              </a:srgbClr>
            </a:solidFill>
            <a:prstDash val="solid"/>
          </a:ln>
        </p:spPr>
      </p:sp>
      <p:sp>
        <p:nvSpPr>
          <p:cNvPr id="12" name="!!Rail pearl 0"/>
          <p:cNvSpPr/>
          <p:nvPr/>
        </p:nvSpPr>
        <p:spPr>
          <a:xfrm>
            <a:off x="68580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3" name="!!Rail label 0"/>
          <p:cNvSpPr txBox="1"/>
          <p:nvPr/>
        </p:nvSpPr>
        <p:spPr>
          <a:xfrm>
            <a:off x="98755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DEGRADER</a:t>
            </a:r>
            <a:endParaRPr lang="en-US" sz="900" dirty="0"/>
          </a:p>
        </p:txBody>
      </p:sp>
      <p:sp>
        <p:nvSpPr>
          <p:cNvPr id="14" name="!!Rail pearl 1"/>
          <p:cNvSpPr/>
          <p:nvPr/>
        </p:nvSpPr>
        <p:spPr>
          <a:xfrm>
            <a:off x="2807208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5" name="!!Rail label 1"/>
          <p:cNvSpPr txBox="1"/>
          <p:nvPr/>
        </p:nvSpPr>
        <p:spPr>
          <a:xfrm>
            <a:off x="3108960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SPLIT</a:t>
            </a:r>
            <a:endParaRPr lang="en-US" sz="900" dirty="0"/>
          </a:p>
        </p:txBody>
      </p:sp>
      <p:sp>
        <p:nvSpPr>
          <p:cNvPr id="16" name="!!Rail pearl 2"/>
          <p:cNvSpPr/>
          <p:nvPr/>
        </p:nvSpPr>
        <p:spPr>
          <a:xfrm>
            <a:off x="4928616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7" name="!!Rail label 2"/>
          <p:cNvSpPr txBox="1"/>
          <p:nvPr/>
        </p:nvSpPr>
        <p:spPr>
          <a:xfrm>
            <a:off x="5230368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BARRIER</a:t>
            </a:r>
            <a:endParaRPr lang="en-US" sz="900" dirty="0"/>
          </a:p>
        </p:txBody>
      </p:sp>
      <p:sp>
        <p:nvSpPr>
          <p:cNvPr id="18" name="!!Rail pearl 3"/>
          <p:cNvSpPr/>
          <p:nvPr/>
        </p:nvSpPr>
        <p:spPr>
          <a:xfrm>
            <a:off x="7022592" y="6153912"/>
            <a:ext cx="237744" cy="237744"/>
          </a:xfrm>
          <a:prstGeom prst="ellipse">
            <a:avLst/>
          </a:prstGeom>
          <a:solidFill>
            <a:srgbClr val="D9A443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19" name="!!Rail label 3"/>
          <p:cNvSpPr txBox="1"/>
          <p:nvPr/>
        </p:nvSpPr>
        <p:spPr>
          <a:xfrm>
            <a:off x="7351776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REBUILT</a:t>
            </a:r>
            <a:endParaRPr lang="en-US" sz="900" dirty="0"/>
          </a:p>
        </p:txBody>
      </p:sp>
      <p:sp>
        <p:nvSpPr>
          <p:cNvPr id="20" name="!!Rail pearl 4"/>
          <p:cNvSpPr/>
          <p:nvPr/>
        </p:nvSpPr>
        <p:spPr>
          <a:xfrm>
            <a:off x="9171432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1" name="!!Rail label 4"/>
          <p:cNvSpPr txBox="1"/>
          <p:nvPr/>
        </p:nvSpPr>
        <p:spPr>
          <a:xfrm>
            <a:off x="9473184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CLEARED</a:t>
            </a:r>
            <a:endParaRPr lang="en-US" sz="900" dirty="0"/>
          </a:p>
        </p:txBody>
      </p:sp>
      <p:sp>
        <p:nvSpPr>
          <p:cNvPr id="22" name="!!Rail pearl 5"/>
          <p:cNvSpPr/>
          <p:nvPr/>
        </p:nvSpPr>
        <p:spPr>
          <a:xfrm>
            <a:off x="11292840" y="6181344"/>
            <a:ext cx="182880" cy="18288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2230"/>
            </a:solidFill>
            <a:prstDash val="solid"/>
          </a:ln>
        </p:spPr>
      </p:sp>
      <p:sp>
        <p:nvSpPr>
          <p:cNvPr id="23" name="!!Rail label 5"/>
          <p:cNvSpPr txBox="1"/>
          <p:nvPr/>
        </p:nvSpPr>
        <p:spPr>
          <a:xfrm>
            <a:off x="11594592" y="61630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AGAIN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type" descr="Oyster Therapeuti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008" y="2103120"/>
            <a:ext cx="6583680" cy="2312245"/>
          </a:xfrm>
          <a:prstGeom prst="rect">
            <a:avLst/>
          </a:prstGeom>
        </p:spPr>
      </p:pic>
      <p:sp>
        <p:nvSpPr>
          <p:cNvPr id="3" name="!!Tagline"/>
          <p:cNvSpPr txBox="1"/>
          <p:nvPr/>
        </p:nvSpPr>
        <p:spPr>
          <a:xfrm>
            <a:off x="2804008" y="464390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Oral, brain-penetrant protein degraders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8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yster Nacre">
  <a:themeElements>
    <a:clrScheme name="Oyster Nacre">
      <a:dk1>
        <a:srgbClr val="2B2230"/>
      </a:dk1>
      <a:lt1>
        <a:srgbClr val="FFFFFF"/>
      </a:lt1>
      <a:dk2>
        <a:srgbClr val="65586A"/>
      </a:dk2>
      <a:lt2>
        <a:srgbClr val="F6EEEC"/>
      </a:lt2>
      <a:accent1>
        <a:srgbClr val="8C5572"/>
      </a:accent1>
      <a:accent2>
        <a:srgbClr val="D9A443"/>
      </a:accent2>
      <a:accent3>
        <a:srgbClr val="B4678B"/>
      </a:accent3>
      <a:accent4>
        <a:srgbClr val="8A73B2"/>
      </a:accent4>
      <a:accent5>
        <a:srgbClr val="C99BB0"/>
      </a:accent5>
      <a:accent6>
        <a:srgbClr val="E7C9D6"/>
      </a:accent6>
      <a:hlink>
        <a:srgbClr val="8C5572"/>
      </a:hlink>
      <a:folHlink>
        <a:srgbClr val="65586A"/>
      </a:folHlink>
    </a:clrScheme>
    <a:fontScheme name="Oyster Nacre">
      <a:majorFont>
        <a:latin typeface="Newsread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chiv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Oyster Therapeutics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SELFTAC, in motion</dc:title>
  <dc:subject>PptxGenJS Presentation</dc:subject>
  <dc:creator>PptxGenJS</dc:creator>
  <cp:lastModifiedBy>PptxGenJS</cp:lastModifiedBy>
  <cp:revision>1</cp:revision>
  <dcterms:created xsi:type="dcterms:W3CDTF">2026-10-05T12:26:36Z</dcterms:created>
  <dcterms:modified xsi:type="dcterms:W3CDTF">2026-10-05T12:26:36Z</dcterms:modified>
</cp:coreProperties>
</file>