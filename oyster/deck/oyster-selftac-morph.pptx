
<file path=[Content_Types].xml><?xml version="1.0" encoding="utf-8"?>
<Types xmlns="http://schemas.openxmlformats.org/package/2006/content-types">
  <Default Extension="glb" ContentType="model/gltf-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SELFTAC: protein degraders, made small enough to reach the brain. Click to start the story; each click morphs to the next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degrader has two ends: one holds the disease protein, the other recruits the cell’s disposal machinery. Joined by a linker, they are usually too big for oral dosing or the brain. The gold clasp in the middle is the SELFTAC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SELFTAC opens at the clasp, a reversible bond, so the drug travels as two small halves.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blood-brain barrier is sealed by tight junctions, so a drug must pass through the cells themselves. Small molecules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the neuron the two halves find each other and the clasp closes, rebuilding the full degrader: one end on the target (BRD4 here), the other on the E3 ligase (VHL).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ligase brings in an E2 enzyme, which hands ubiquitin onto the face of the target turned towards it, one unit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proteasome reads the ubiquitin chain and breaks the target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degrader is not used up. It lets go and catches the next target: one molecule clears many.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Oyster Therapeutics: oral, brain-penetrant protein degraders.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9" Type="http://schemas.microsoft.com/office/2017/06/relationships/model3d" Target="../media/model1.glb"/><Relationship Id="rId10" Type="http://schemas.microsoft.com/office/2017/06/relationships/model3d" Target="../media/model2.glb"/><Relationship Id="rId11" Type="http://schemas.microsoft.com/office/2017/06/relationships/model3d" Target="../media/model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Relationship Id="rId8" Type="http://schemas.microsoft.com/office/2017/06/relationships/model3d" Target="../media/model3.glb"/><Relationship Id="rId9" Type="http://schemas.microsoft.com/office/2017/06/relationships/model3d" Target="../media/model1.glb"/><Relationship Id="rId10" Type="http://schemas.microsoft.com/office/2017/06/relationships/model3d" Target="../media/model2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6" Type="http://schemas.microsoft.com/office/2017/06/relationships/model3d" Target="../media/model3.glb"/><Relationship Id="rId7" Type="http://schemas.microsoft.com/office/2017/06/relationships/model3d" Target="../media/model2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6" Type="http://schemas.microsoft.com/office/2017/06/relationships/model3d" Target="../media/model2.glb"/><Relationship Id="rId7" Type="http://schemas.microsoft.com/office/2017/06/relationships/model3d" Target="../media/model3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10" Type="http://schemas.microsoft.com/office/2017/06/relationships/model3d" Target="../media/model1.glb"/><Relationship Id="rId11" Type="http://schemas.microsoft.com/office/2017/06/relationships/model3d" Target="../media/model3.glb"/><Relationship Id="rId12" Type="http://schemas.microsoft.com/office/2017/06/relationships/model3d" Target="../media/model2.glb"/><Relationship Id="rId13" Type="http://schemas.microsoft.com/office/2017/06/relationships/model3d" Target="../media/model4.glb"/><Relationship Id="rId14" Type="http://schemas.microsoft.com/office/2017/06/relationships/model3d" Target="../media/model5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3.png"/><Relationship Id="rId9" Type="http://schemas.openxmlformats.org/officeDocument/2006/relationships/image" Target="../media/image-6-3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Relationship Id="rId15" Type="http://schemas.microsoft.com/office/2017/06/relationships/model3d" Target="../media/model6.glb"/><Relationship Id="rId16" Type="http://schemas.microsoft.com/office/2017/06/relationships/model3d" Target="../media/model6.glb"/><Relationship Id="rId17" Type="http://schemas.microsoft.com/office/2017/06/relationships/model3d" Target="../media/model1.glb"/><Relationship Id="rId18" Type="http://schemas.microsoft.com/office/2017/06/relationships/model3d" Target="../media/model3.glb"/><Relationship Id="rId19" Type="http://schemas.microsoft.com/office/2017/06/relationships/model3d" Target="../media/model2.glb"/><Relationship Id="rId20" Type="http://schemas.microsoft.com/office/2017/06/relationships/model3d" Target="../media/model6.glb"/><Relationship Id="rId21" Type="http://schemas.microsoft.com/office/2017/06/relationships/model3d" Target="../media/model6.glb"/><Relationship Id="rId22" Type="http://schemas.microsoft.com/office/2017/06/relationships/model3d" Target="../media/model4.glb"/><Relationship Id="rId23" Type="http://schemas.microsoft.com/office/2017/06/relationships/model3d" Target="../media/model7.glb"/><Relationship Id="rId24" Type="http://schemas.microsoft.com/office/2017/06/relationships/model3d" Target="../media/model5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3.png"/><Relationship Id="rId9" Type="http://schemas.openxmlformats.org/officeDocument/2006/relationships/image" Target="../media/image-7-9.png"/><Relationship Id="rId10" Type="http://schemas.openxmlformats.org/officeDocument/2006/relationships/image" Target="../media/image-7-9.png"/><Relationship Id="rId11" Type="http://schemas.openxmlformats.org/officeDocument/2006/relationships/image" Target="../media/image-7-9.png"/><Relationship Id="rId12" Type="http://schemas.openxmlformats.org/officeDocument/2006/relationships/image" Target="../media/image-7-9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Relationship Id="rId16" Type="http://schemas.microsoft.com/office/2017/06/relationships/model3d" Target="../media/model4.glb"/><Relationship Id="rId17" Type="http://schemas.microsoft.com/office/2017/06/relationships/model3d" Target="../media/model1.glb"/><Relationship Id="rId18" Type="http://schemas.microsoft.com/office/2017/06/relationships/model3d" Target="../media/model2.glb"/><Relationship Id="rId19" Type="http://schemas.microsoft.com/office/2017/06/relationships/model3d" Target="../media/model3.glb"/><Relationship Id="rId20" Type="http://schemas.microsoft.com/office/2017/06/relationships/model3d" Target="../media/model8.glb"/><Relationship Id="rId21" Type="http://schemas.microsoft.com/office/2017/06/relationships/model3d" Target="../media/model4.glb"/><Relationship Id="rId22" Type="http://schemas.microsoft.com/office/2017/06/relationships/model3d" Target="../media/model6.glb"/><Relationship Id="rId23" Type="http://schemas.microsoft.com/office/2017/06/relationships/model3d" Target="../media/model6.glb"/><Relationship Id="rId24" Type="http://schemas.microsoft.com/office/2017/06/relationships/model3d" Target="../media/model6.glb"/><Relationship Id="rId25" Type="http://schemas.microsoft.com/office/2017/06/relationships/model3d" Target="../media/model6.glb"/><Relationship Id="rId26" Type="http://schemas.microsoft.com/office/2017/06/relationships/model3d" Target="../media/model5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10" Type="http://schemas.microsoft.com/office/2017/06/relationships/model3d" Target="../media/model1.glb"/><Relationship Id="rId11" Type="http://schemas.microsoft.com/office/2017/06/relationships/model3d" Target="../media/model3.glb"/><Relationship Id="rId12" Type="http://schemas.microsoft.com/office/2017/06/relationships/model3d" Target="../media/model2.glb"/><Relationship Id="rId13" Type="http://schemas.microsoft.com/office/2017/06/relationships/model3d" Target="../media/model4.glb"/><Relationship Id="rId14" Type="http://schemas.microsoft.com/office/2017/06/relationships/model3d" Target="../media/model5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lasp glow" descr="Glow around the clas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392" y="1665497"/>
            <a:ext cx="4754880" cy="475488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!!Clasp bond" descr="Clasp bond (3D model)"/>
              <p:cNvGraphicFramePr>
                <a:graphicFrameLocks noGrp="1" noChangeAspect="1"/>
              </p:cNvGraphicFramePr>
              <p:nvPr/>
            </p:nvGraphicFramePr>
            <p:xfrm>
              <a:off x="6994630" y="3540735"/>
              <a:ext cx="1004404" cy="1004404"/>
            </p:xfrm>
            <a:graphic>
              <a:graphicData uri="http://schemas.microsoft.com/office/drawing/2017/model3d">
                <am3d:model3d r:embed="rId9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641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20740563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0044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!!Clasp bond" descr="Clasp bond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4630" y="3540735"/>
                <a:ext cx="1004404" cy="1004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6068738" y="1981718"/>
              <a:ext cx="2681028" cy="2681028"/>
            </p:xfrm>
            <a:graphic>
              <a:graphicData uri="http://schemas.microsoft.com/office/drawing/2017/model3d">
                <am3d:model3d r:embed="rId10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20740563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6810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738" y="1981718"/>
                <a:ext cx="2681028" cy="26810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6380251" y="957511"/>
              <a:ext cx="4424993" cy="4424993"/>
            </p:xfrm>
            <a:graphic>
              <a:graphicData uri="http://schemas.microsoft.com/office/drawing/2017/model3d">
                <am3d:model3d r:embed="rId11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20740563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4249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0251" y="957511"/>
                <a:ext cx="4424993" cy="4424993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Logotype" descr="Oyster Therapeutic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148840"/>
            <a:ext cx="4937760" cy="1734183"/>
          </a:xfrm>
          <a:prstGeom prst="rect">
            <a:avLst/>
          </a:prstGeom>
        </p:spPr>
      </p:pic>
      <p:sp>
        <p:nvSpPr>
          <p:cNvPr id="7" name="!!Tagline"/>
          <p:cNvSpPr txBox="1"/>
          <p:nvPr/>
        </p:nvSpPr>
        <p:spPr>
          <a:xfrm>
            <a:off x="640080" y="4111581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SELFTAC®, in motion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lasp glow" descr="Glow around the clas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48" y="1525560"/>
            <a:ext cx="5230368" cy="523036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6180473" y="694298"/>
              <a:ext cx="4867493" cy="4867493"/>
            </p:xfrm>
            <a:graphic>
              <a:graphicData uri="http://schemas.microsoft.com/office/drawing/2017/model3d">
                <am3d:model3d r:embed="rId8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43775" ay="1375099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8674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80473" y="694298"/>
                <a:ext cx="4867493" cy="4867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lasp bond" descr="Clasp bond (3D model)"/>
              <p:cNvGraphicFramePr>
                <a:graphicFrameLocks noGrp="1" noChangeAspect="1"/>
              </p:cNvGraphicFramePr>
              <p:nvPr/>
            </p:nvGraphicFramePr>
            <p:xfrm>
              <a:off x="6760509" y="3588322"/>
              <a:ext cx="1104844" cy="1104844"/>
            </p:xfrm>
            <a:graphic>
              <a:graphicData uri="http://schemas.microsoft.com/office/drawing/2017/model3d">
                <am3d:model3d r:embed="rId9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641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43775" ay="1375099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1048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Clasp bond" descr="Clasp bond (3D model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0509" y="3588322"/>
                <a:ext cx="1104844" cy="11048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5913215" y="1889630"/>
              <a:ext cx="2949131" cy="2949131"/>
            </p:xfrm>
            <a:graphic>
              <a:graphicData uri="http://schemas.microsoft.com/office/drawing/2017/model3d">
                <am3d:model3d r:embed="rId10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43775" ay="1375099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9491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13215" y="1889630"/>
                <a:ext cx="2949131" cy="2949131"/>
              </a:xfrm>
              <a:prstGeom prst="rect">
                <a:avLst/>
              </a:prstGeom>
            </p:spPr>
          </p:pic>
        </mc:Fallback>
      </mc:AlternateContent>
      <p:sp>
        <p:nvSpPr>
          <p:cNvPr id="6" name="Eyebrow"/>
          <p:cNvSpPr txBox="1"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SIZE PROBLEM</a:t>
            </a:r>
            <a:endParaRPr lang="en-US" sz="1100" dirty="0"/>
          </a:p>
        </p:txBody>
      </p:sp>
      <p:sp>
        <p:nvSpPr>
          <p:cNvPr id="7" name="Title"/>
          <p:cNvSpPr txBox="1"/>
          <p:nvPr/>
        </p:nvSpPr>
        <p:spPr>
          <a:xfrm>
            <a:off x="640080" y="1783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Protein degraders, made small enough to reach the brain</a:t>
            </a:r>
            <a:endParaRPr lang="en-US" sz="3000" dirty="0"/>
          </a:p>
        </p:txBody>
      </p:sp>
      <p:sp>
        <p:nvSpPr>
          <p:cNvPr id="8" name="Body"/>
          <p:cNvSpPr txBox="1"/>
          <p:nvPr/>
        </p:nvSpPr>
        <p:spPr>
          <a:xfrm>
            <a:off x="640080" y="3931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Degraders remove disease-causing proteins instead of blocking them. Most are too large to be taken by mouth or to enter the brain.</a:t>
            </a:r>
            <a:endParaRPr lang="en-US" sz="1500" dirty="0"/>
          </a:p>
        </p:txBody>
      </p:sp>
      <p:sp>
        <p:nvSpPr>
          <p:cNvPr id="9" name="!!Rail line"/>
          <p:cNvSpPr/>
          <p:nvPr/>
        </p:nvSpPr>
        <p:spPr>
          <a:xfrm>
            <a:off x="777240" y="6272784"/>
            <a:ext cx="10607040" cy="0"/>
          </a:xfrm>
          <a:prstGeom prst="line">
            <a:avLst/>
          </a:prstGeom>
          <a:noFill/>
          <a:ln w="9525">
            <a:solidFill>
              <a:srgbClr val="2B2230">
                <a:alpha val="30000"/>
              </a:srgbClr>
            </a:solidFill>
            <a:prstDash val="solid"/>
          </a:ln>
        </p:spPr>
      </p:sp>
      <p:sp>
        <p:nvSpPr>
          <p:cNvPr id="10" name="!!Rail pearl 0"/>
          <p:cNvSpPr/>
          <p:nvPr/>
        </p:nvSpPr>
        <p:spPr>
          <a:xfrm>
            <a:off x="68580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1" name="!!Rail label 0"/>
          <p:cNvSpPr txBox="1"/>
          <p:nvPr/>
        </p:nvSpPr>
        <p:spPr>
          <a:xfrm>
            <a:off x="98755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DEGRADER</a:t>
            </a:r>
            <a:endParaRPr lang="en-US" sz="900" dirty="0"/>
          </a:p>
        </p:txBody>
      </p:sp>
      <p:sp>
        <p:nvSpPr>
          <p:cNvPr id="12" name="!!Rail pearl 1"/>
          <p:cNvSpPr/>
          <p:nvPr/>
        </p:nvSpPr>
        <p:spPr>
          <a:xfrm>
            <a:off x="2807208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3" name="!!Rail label 1"/>
          <p:cNvSpPr txBox="1"/>
          <p:nvPr/>
        </p:nvSpPr>
        <p:spPr>
          <a:xfrm>
            <a:off x="3108960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14" name="!!Rail pearl 2"/>
          <p:cNvSpPr/>
          <p:nvPr/>
        </p:nvSpPr>
        <p:spPr>
          <a:xfrm>
            <a:off x="4928616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5" name="!!Rail label 2"/>
          <p:cNvSpPr txBox="1"/>
          <p:nvPr/>
        </p:nvSpPr>
        <p:spPr>
          <a:xfrm>
            <a:off x="5230368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16" name="!!Rail pearl 3"/>
          <p:cNvSpPr/>
          <p:nvPr/>
        </p:nvSpPr>
        <p:spPr>
          <a:xfrm>
            <a:off x="7022592" y="6153912"/>
            <a:ext cx="237744" cy="237744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7" name="!!Rail label 3"/>
          <p:cNvSpPr txBox="1"/>
          <p:nvPr/>
        </p:nvSpPr>
        <p:spPr>
          <a:xfrm>
            <a:off x="7351776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REBUILT</a:t>
            </a:r>
            <a:endParaRPr lang="en-US" sz="900" dirty="0"/>
          </a:p>
        </p:txBody>
      </p:sp>
      <p:sp>
        <p:nvSpPr>
          <p:cNvPr id="18" name="!!Rail pearl 4"/>
          <p:cNvSpPr/>
          <p:nvPr/>
        </p:nvSpPr>
        <p:spPr>
          <a:xfrm>
            <a:off x="9171432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9" name="!!Rail label 4"/>
          <p:cNvSpPr txBox="1"/>
          <p:nvPr/>
        </p:nvSpPr>
        <p:spPr>
          <a:xfrm>
            <a:off x="9473184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endParaRPr lang="en-US" sz="900" dirty="0"/>
          </a:p>
        </p:txBody>
      </p:sp>
      <p:sp>
        <p:nvSpPr>
          <p:cNvPr id="20" name="!!Rail pearl 5"/>
          <p:cNvSpPr/>
          <p:nvPr/>
        </p:nvSpPr>
        <p:spPr>
          <a:xfrm>
            <a:off x="11292840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21" name="!!Rail label 5"/>
          <p:cNvSpPr txBox="1"/>
          <p:nvPr/>
        </p:nvSpPr>
        <p:spPr>
          <a:xfrm>
            <a:off x="1159459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8826394" y="1916202"/>
              <a:ext cx="3318745" cy="3318745"/>
            </p:xfrm>
            <a:graphic>
              <a:graphicData uri="http://schemas.microsoft.com/office/drawing/2017/model3d">
                <am3d:model3d r:embed="rId6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515662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33187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26394" y="1916202"/>
                <a:ext cx="3318745" cy="3318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4510848" y="1911279"/>
              <a:ext cx="2010771" cy="2010771"/>
            </p:xfrm>
            <a:graphic>
              <a:graphicData uri="http://schemas.microsoft.com/office/drawing/2017/model3d">
                <am3d:model3d r:embed="rId7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515662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0107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0848" y="1911279"/>
                <a:ext cx="2010771" cy="2010771"/>
              </a:xfrm>
              <a:prstGeom prst="rect">
                <a:avLst/>
              </a:prstGeom>
            </p:spPr>
          </p:pic>
        </mc:Fallback>
      </mc:AlternateContent>
      <p:sp>
        <p:nvSpPr>
          <p:cNvPr id="4" name="Eyebrow"/>
          <p:cNvSpPr txBox="1"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SPLIT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1783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degrader, two small halves</a:t>
            </a:r>
            <a:endParaRPr lang="en-US" sz="3000" dirty="0"/>
          </a:p>
        </p:txBody>
      </p:sp>
      <p:sp>
        <p:nvSpPr>
          <p:cNvPr id="6" name="Body"/>
          <p:cNvSpPr txBox="1"/>
          <p:nvPr/>
        </p:nvSpPr>
        <p:spPr>
          <a:xfrm>
            <a:off x="640080" y="3931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reversible linker lets a SELFTAC® molecule travel as two small molecules.</a:t>
            </a:r>
            <a:endParaRPr lang="en-US" sz="1500" dirty="0"/>
          </a:p>
        </p:txBody>
      </p:sp>
      <p:sp>
        <p:nvSpPr>
          <p:cNvPr id="7" name="!!Rail line"/>
          <p:cNvSpPr/>
          <p:nvPr/>
        </p:nvSpPr>
        <p:spPr>
          <a:xfrm>
            <a:off x="777240" y="6272784"/>
            <a:ext cx="10607040" cy="0"/>
          </a:xfrm>
          <a:prstGeom prst="line">
            <a:avLst/>
          </a:prstGeom>
          <a:noFill/>
          <a:ln w="9525">
            <a:solidFill>
              <a:srgbClr val="2B2230">
                <a:alpha val="30000"/>
              </a:srgbClr>
            </a:solidFill>
            <a:prstDash val="solid"/>
          </a:ln>
        </p:spPr>
      </p:sp>
      <p:sp>
        <p:nvSpPr>
          <p:cNvPr id="8" name="!!Rail pearl 0"/>
          <p:cNvSpPr/>
          <p:nvPr/>
        </p:nvSpPr>
        <p:spPr>
          <a:xfrm>
            <a:off x="68580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9" name="!!Rail label 0"/>
          <p:cNvSpPr txBox="1"/>
          <p:nvPr/>
        </p:nvSpPr>
        <p:spPr>
          <a:xfrm>
            <a:off x="98755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DEGRADER</a:t>
            </a:r>
            <a:endParaRPr lang="en-US" sz="900" dirty="0"/>
          </a:p>
        </p:txBody>
      </p:sp>
      <p:sp>
        <p:nvSpPr>
          <p:cNvPr id="10" name="!!Rail pearl 1"/>
          <p:cNvSpPr/>
          <p:nvPr/>
        </p:nvSpPr>
        <p:spPr>
          <a:xfrm>
            <a:off x="2807208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1" name="!!Rail label 1"/>
          <p:cNvSpPr txBox="1"/>
          <p:nvPr/>
        </p:nvSpPr>
        <p:spPr>
          <a:xfrm>
            <a:off x="3108960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12" name="!!Rail pearl 2"/>
          <p:cNvSpPr/>
          <p:nvPr/>
        </p:nvSpPr>
        <p:spPr>
          <a:xfrm>
            <a:off x="4928616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3" name="!!Rail label 2"/>
          <p:cNvSpPr txBox="1"/>
          <p:nvPr/>
        </p:nvSpPr>
        <p:spPr>
          <a:xfrm>
            <a:off x="5230368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14" name="!!Rail pearl 3"/>
          <p:cNvSpPr/>
          <p:nvPr/>
        </p:nvSpPr>
        <p:spPr>
          <a:xfrm>
            <a:off x="7022592" y="6153912"/>
            <a:ext cx="237744" cy="237744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5" name="!!Rail label 3"/>
          <p:cNvSpPr txBox="1"/>
          <p:nvPr/>
        </p:nvSpPr>
        <p:spPr>
          <a:xfrm>
            <a:off x="7351776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REBUILT</a:t>
            </a:r>
            <a:endParaRPr lang="en-US" sz="900" dirty="0"/>
          </a:p>
        </p:txBody>
      </p:sp>
      <p:sp>
        <p:nvSpPr>
          <p:cNvPr id="16" name="!!Rail pearl 4"/>
          <p:cNvSpPr/>
          <p:nvPr/>
        </p:nvSpPr>
        <p:spPr>
          <a:xfrm>
            <a:off x="9171432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7" name="!!Rail label 4"/>
          <p:cNvSpPr txBox="1"/>
          <p:nvPr/>
        </p:nvSpPr>
        <p:spPr>
          <a:xfrm>
            <a:off x="9473184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endParaRPr lang="en-US" sz="900" dirty="0"/>
          </a:p>
        </p:txBody>
      </p:sp>
      <p:sp>
        <p:nvSpPr>
          <p:cNvPr id="18" name="!!Rail pearl 5"/>
          <p:cNvSpPr/>
          <p:nvPr/>
        </p:nvSpPr>
        <p:spPr>
          <a:xfrm>
            <a:off x="11292840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9" name="!!Rail label 5"/>
          <p:cNvSpPr txBox="1"/>
          <p:nvPr/>
        </p:nvSpPr>
        <p:spPr>
          <a:xfrm>
            <a:off x="1159459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embrane0"/>
          <p:cNvSpPr/>
          <p:nvPr/>
        </p:nvSpPr>
        <p:spPr>
          <a:xfrm>
            <a:off x="4983480" y="2743200"/>
            <a:ext cx="3611880" cy="1828800"/>
          </a:xfrm>
          <a:prstGeom prst="roundRect">
            <a:avLst>
              <a:gd name="adj" fmla="val 22500"/>
            </a:avLst>
          </a:prstGeom>
          <a:solidFill>
            <a:srgbClr val="EADADF">
              <a:alpha val="65000"/>
            </a:srgbClr>
          </a:solidFill>
          <a:ln w="12700">
            <a:solidFill>
              <a:srgbClr val="8C5572">
                <a:alpha val="60000"/>
              </a:srgbClr>
            </a:solidFill>
            <a:prstDash val="solid"/>
          </a:ln>
        </p:spPr>
      </p:sp>
      <p:sp>
        <p:nvSpPr>
          <p:cNvPr id="3" name="!!Membrane1"/>
          <p:cNvSpPr/>
          <p:nvPr/>
        </p:nvSpPr>
        <p:spPr>
          <a:xfrm>
            <a:off x="8686800" y="2743200"/>
            <a:ext cx="3611880" cy="1828800"/>
          </a:xfrm>
          <a:prstGeom prst="roundRect">
            <a:avLst>
              <a:gd name="adj" fmla="val 22500"/>
            </a:avLst>
          </a:prstGeom>
          <a:solidFill>
            <a:srgbClr val="EADADF">
              <a:alpha val="65000"/>
            </a:srgbClr>
          </a:solidFill>
          <a:ln w="12700">
            <a:solidFill>
              <a:srgbClr val="8C5572">
                <a:alpha val="60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5480811" y="2369749"/>
              <a:ext cx="1340514" cy="1340514"/>
            </p:xfrm>
            <a:graphic>
              <a:graphicData uri="http://schemas.microsoft.com/office/drawing/2017/model3d">
                <am3d:model3d r:embed="rId6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46986" ay="21256225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13405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80811" y="2369749"/>
                <a:ext cx="1340514" cy="1340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8744683" y="2592997"/>
              <a:ext cx="2212497" cy="2212497"/>
            </p:xfrm>
            <a:graphic>
              <a:graphicData uri="http://schemas.microsoft.com/office/drawing/2017/model3d">
                <am3d:model3d r:embed="rId7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46986" ay="21256225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2124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44683" y="2592997"/>
                <a:ext cx="2212497" cy="221249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Eyebrow"/>
          <p:cNvSpPr txBox="1"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THE BARRIER</a:t>
            </a:r>
            <a:endParaRPr lang="en-US" sz="1100" dirty="0"/>
          </a:p>
        </p:txBody>
      </p:sp>
      <p:sp>
        <p:nvSpPr>
          <p:cNvPr id="7" name="Title"/>
          <p:cNvSpPr txBox="1"/>
          <p:nvPr/>
        </p:nvSpPr>
        <p:spPr>
          <a:xfrm>
            <a:off x="640080" y="1783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Through the cells, not between them</a:t>
            </a:r>
            <a:endParaRPr lang="en-US" sz="3000" dirty="0"/>
          </a:p>
        </p:txBody>
      </p:sp>
      <p:sp>
        <p:nvSpPr>
          <p:cNvPr id="8" name="Body"/>
          <p:cNvSpPr txBox="1"/>
          <p:nvPr/>
        </p:nvSpPr>
        <p:spPr>
          <a:xfrm>
            <a:off x="640080" y="3931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Tight junctions seal the brain’s capillaries. Each half is small enough to pass through the endothelial cells themselves.</a:t>
            </a:r>
            <a:endParaRPr lang="en-US" sz="1500" dirty="0"/>
          </a:p>
        </p:txBody>
      </p:sp>
      <p:sp>
        <p:nvSpPr>
          <p:cNvPr id="9" name="!!Rail line"/>
          <p:cNvSpPr/>
          <p:nvPr/>
        </p:nvSpPr>
        <p:spPr>
          <a:xfrm>
            <a:off x="777240" y="6272784"/>
            <a:ext cx="10607040" cy="0"/>
          </a:xfrm>
          <a:prstGeom prst="line">
            <a:avLst/>
          </a:prstGeom>
          <a:noFill/>
          <a:ln w="9525">
            <a:solidFill>
              <a:srgbClr val="2B2230">
                <a:alpha val="30000"/>
              </a:srgbClr>
            </a:solidFill>
            <a:prstDash val="solid"/>
          </a:ln>
        </p:spPr>
      </p:sp>
      <p:sp>
        <p:nvSpPr>
          <p:cNvPr id="10" name="!!Rail pearl 0"/>
          <p:cNvSpPr/>
          <p:nvPr/>
        </p:nvSpPr>
        <p:spPr>
          <a:xfrm>
            <a:off x="68580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1" name="!!Rail label 0"/>
          <p:cNvSpPr txBox="1"/>
          <p:nvPr/>
        </p:nvSpPr>
        <p:spPr>
          <a:xfrm>
            <a:off x="98755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DEGRADER</a:t>
            </a:r>
            <a:endParaRPr lang="en-US" sz="900" dirty="0"/>
          </a:p>
        </p:txBody>
      </p:sp>
      <p:sp>
        <p:nvSpPr>
          <p:cNvPr id="12" name="!!Rail pearl 1"/>
          <p:cNvSpPr/>
          <p:nvPr/>
        </p:nvSpPr>
        <p:spPr>
          <a:xfrm>
            <a:off x="2807208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3" name="!!Rail label 1"/>
          <p:cNvSpPr txBox="1"/>
          <p:nvPr/>
        </p:nvSpPr>
        <p:spPr>
          <a:xfrm>
            <a:off x="3108960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14" name="!!Rail pearl 2"/>
          <p:cNvSpPr/>
          <p:nvPr/>
        </p:nvSpPr>
        <p:spPr>
          <a:xfrm>
            <a:off x="4928616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5" name="!!Rail label 2"/>
          <p:cNvSpPr txBox="1"/>
          <p:nvPr/>
        </p:nvSpPr>
        <p:spPr>
          <a:xfrm>
            <a:off x="5230368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16" name="!!Rail pearl 3"/>
          <p:cNvSpPr/>
          <p:nvPr/>
        </p:nvSpPr>
        <p:spPr>
          <a:xfrm>
            <a:off x="7022592" y="6153912"/>
            <a:ext cx="237744" cy="237744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7" name="!!Rail label 3"/>
          <p:cNvSpPr txBox="1"/>
          <p:nvPr/>
        </p:nvSpPr>
        <p:spPr>
          <a:xfrm>
            <a:off x="7351776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REBUILT</a:t>
            </a:r>
            <a:endParaRPr lang="en-US" sz="900" dirty="0"/>
          </a:p>
        </p:txBody>
      </p:sp>
      <p:sp>
        <p:nvSpPr>
          <p:cNvPr id="18" name="!!Rail pearl 4"/>
          <p:cNvSpPr/>
          <p:nvPr/>
        </p:nvSpPr>
        <p:spPr>
          <a:xfrm>
            <a:off x="9171432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19" name="!!Rail label 4"/>
          <p:cNvSpPr txBox="1"/>
          <p:nvPr/>
        </p:nvSpPr>
        <p:spPr>
          <a:xfrm>
            <a:off x="9473184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endParaRPr lang="en-US" sz="900" dirty="0"/>
          </a:p>
        </p:txBody>
      </p:sp>
      <p:sp>
        <p:nvSpPr>
          <p:cNvPr id="20" name="!!Rail pearl 5"/>
          <p:cNvSpPr/>
          <p:nvPr/>
        </p:nvSpPr>
        <p:spPr>
          <a:xfrm>
            <a:off x="11292840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21" name="!!Rail label 5"/>
          <p:cNvSpPr txBox="1"/>
          <p:nvPr/>
        </p:nvSpPr>
        <p:spPr>
          <a:xfrm>
            <a:off x="1159459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lasp glow" descr="Glow around the clas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030" y="3049705"/>
            <a:ext cx="1093622" cy="109362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!!Clasp bond" descr="Clasp bond (3D model)"/>
              <p:cNvGraphicFramePr>
                <a:graphicFrameLocks noGrp="1" noChangeAspect="1"/>
              </p:cNvGraphicFramePr>
              <p:nvPr/>
            </p:nvGraphicFramePr>
            <p:xfrm>
              <a:off x="7401335" y="3481010"/>
              <a:ext cx="231013" cy="231013"/>
            </p:xfrm>
            <a:graphic>
              <a:graphicData uri="http://schemas.microsoft.com/office/drawing/2017/model3d">
                <am3d:model3d r:embed="rId10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641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41253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310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!!Clasp bond" descr="Clasp bond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01335" y="3481010"/>
                <a:ext cx="231013" cy="231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7285649" y="2881913"/>
              <a:ext cx="1017748" cy="1017748"/>
            </p:xfrm>
            <a:graphic>
              <a:graphicData uri="http://schemas.microsoft.com/office/drawing/2017/model3d">
                <am3d:model3d r:embed="rId11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41253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177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85649" y="2881913"/>
                <a:ext cx="1017748" cy="1017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7208677" y="3122623"/>
              <a:ext cx="616637" cy="616637"/>
            </p:xfrm>
            <a:graphic>
              <a:graphicData uri="http://schemas.microsoft.com/office/drawing/2017/model3d">
                <am3d:model3d r:embed="rId12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41253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166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08677" y="3122623"/>
                <a:ext cx="616637" cy="616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!!BRD4" descr="BRD4 (3D model)"/>
              <p:cNvGraphicFramePr>
                <a:graphicFrameLocks noGrp="1" noChangeAspect="1"/>
              </p:cNvGraphicFramePr>
              <p:nvPr/>
            </p:nvGraphicFramePr>
            <p:xfrm>
              <a:off x="4981853" y="1660789"/>
              <a:ext cx="3439631" cy="3439631"/>
            </p:xfrm>
            <a:graphic>
              <a:graphicData uri="http://schemas.microsoft.com/office/drawing/2017/model3d">
                <am3d:model3d r:embed="rId13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23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41253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4396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!!BRD4" descr="BRD4 (3D model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81853" y="1660789"/>
                <a:ext cx="3439631" cy="3439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!!VHL complex" descr="VHL complex (3D model)"/>
              <p:cNvGraphicFramePr>
                <a:graphicFrameLocks noGrp="1" noChangeAspect="1"/>
              </p:cNvGraphicFramePr>
              <p:nvPr/>
            </p:nvGraphicFramePr>
            <p:xfrm>
              <a:off x="6543686" y="354990"/>
              <a:ext cx="5513292" cy="5513292"/>
            </p:xfrm>
            <a:graphic>
              <a:graphicData uri="http://schemas.microsoft.com/office/drawing/2017/model3d">
                <am3d:model3d r:embed="rId14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41253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5132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!!VHL complex" descr="VHL complex (3D model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43686" y="354990"/>
                <a:ext cx="5513292" cy="5513292"/>
              </a:xfrm>
              <a:prstGeom prst="rect">
                <a:avLst/>
              </a:prstGeom>
            </p:spPr>
          </p:pic>
        </mc:Fallback>
      </mc:AlternateContent>
      <p:sp>
        <p:nvSpPr>
          <p:cNvPr id="8" name="Eyebrow"/>
          <p:cNvSpPr txBox="1"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REBUILT</a:t>
            </a:r>
            <a:endParaRPr lang="en-US" sz="1100" dirty="0"/>
          </a:p>
        </p:txBody>
      </p:sp>
      <p:sp>
        <p:nvSpPr>
          <p:cNvPr id="9" name="Title"/>
          <p:cNvSpPr txBox="1"/>
          <p:nvPr/>
        </p:nvSpPr>
        <p:spPr>
          <a:xfrm>
            <a:off x="640080" y="1783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Inside the neuron, the halves click back together</a:t>
            </a:r>
            <a:endParaRPr lang="en-US" sz="3000" dirty="0"/>
          </a:p>
        </p:txBody>
      </p:sp>
      <p:sp>
        <p:nvSpPr>
          <p:cNvPr id="10" name="Body"/>
          <p:cNvSpPr txBox="1"/>
          <p:nvPr/>
        </p:nvSpPr>
        <p:spPr>
          <a:xfrm>
            <a:off x="640080" y="3931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end holds the target protein, the other an E3 ligase. The clasp closes between them.</a:t>
            </a:r>
            <a:endParaRPr lang="en-US" sz="1500" dirty="0"/>
          </a:p>
        </p:txBody>
      </p:sp>
      <p:sp>
        <p:nvSpPr>
          <p:cNvPr id="11" name="!!Rail line"/>
          <p:cNvSpPr/>
          <p:nvPr/>
        </p:nvSpPr>
        <p:spPr>
          <a:xfrm>
            <a:off x="777240" y="6272784"/>
            <a:ext cx="10607040" cy="0"/>
          </a:xfrm>
          <a:prstGeom prst="line">
            <a:avLst/>
          </a:prstGeom>
          <a:noFill/>
          <a:ln w="9525">
            <a:solidFill>
              <a:srgbClr val="2B2230">
                <a:alpha val="30000"/>
              </a:srgbClr>
            </a:solidFill>
            <a:prstDash val="solid"/>
          </a:ln>
        </p:spPr>
      </p:sp>
      <p:sp>
        <p:nvSpPr>
          <p:cNvPr id="12" name="!!Rail pearl 0"/>
          <p:cNvSpPr/>
          <p:nvPr/>
        </p:nvSpPr>
        <p:spPr>
          <a:xfrm>
            <a:off x="68580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3" name="!!Rail label 0"/>
          <p:cNvSpPr txBox="1"/>
          <p:nvPr/>
        </p:nvSpPr>
        <p:spPr>
          <a:xfrm>
            <a:off x="98755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DEGRADER</a:t>
            </a:r>
            <a:endParaRPr lang="en-US" sz="900" dirty="0"/>
          </a:p>
        </p:txBody>
      </p:sp>
      <p:sp>
        <p:nvSpPr>
          <p:cNvPr id="14" name="!!Rail pearl 1"/>
          <p:cNvSpPr/>
          <p:nvPr/>
        </p:nvSpPr>
        <p:spPr>
          <a:xfrm>
            <a:off x="2807208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5" name="!!Rail label 1"/>
          <p:cNvSpPr txBox="1"/>
          <p:nvPr/>
        </p:nvSpPr>
        <p:spPr>
          <a:xfrm>
            <a:off x="3108960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16" name="!!Rail pearl 2"/>
          <p:cNvSpPr/>
          <p:nvPr/>
        </p:nvSpPr>
        <p:spPr>
          <a:xfrm>
            <a:off x="4928616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7" name="!!Rail label 2"/>
          <p:cNvSpPr txBox="1"/>
          <p:nvPr/>
        </p:nvSpPr>
        <p:spPr>
          <a:xfrm>
            <a:off x="5230368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18" name="!!Rail pearl 3"/>
          <p:cNvSpPr/>
          <p:nvPr/>
        </p:nvSpPr>
        <p:spPr>
          <a:xfrm>
            <a:off x="7022592" y="6153912"/>
            <a:ext cx="237744" cy="237744"/>
          </a:xfrm>
          <a:prstGeom prst="ellipse">
            <a:avLst/>
          </a:prstGeom>
          <a:solidFill>
            <a:srgbClr val="D9A443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9" name="!!Rail label 3"/>
          <p:cNvSpPr txBox="1"/>
          <p:nvPr/>
        </p:nvSpPr>
        <p:spPr>
          <a:xfrm>
            <a:off x="7351776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REBUILT</a:t>
            </a:r>
            <a:endParaRPr lang="en-US" sz="900" dirty="0"/>
          </a:p>
        </p:txBody>
      </p:sp>
      <p:sp>
        <p:nvSpPr>
          <p:cNvPr id="20" name="!!Rail pearl 4"/>
          <p:cNvSpPr/>
          <p:nvPr/>
        </p:nvSpPr>
        <p:spPr>
          <a:xfrm>
            <a:off x="9171432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21" name="!!Rail label 4"/>
          <p:cNvSpPr txBox="1"/>
          <p:nvPr/>
        </p:nvSpPr>
        <p:spPr>
          <a:xfrm>
            <a:off x="9473184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endParaRPr lang="en-US" sz="900" dirty="0"/>
          </a:p>
        </p:txBody>
      </p:sp>
      <p:sp>
        <p:nvSpPr>
          <p:cNvPr id="22" name="!!Rail pearl 5"/>
          <p:cNvSpPr/>
          <p:nvPr/>
        </p:nvSpPr>
        <p:spPr>
          <a:xfrm>
            <a:off x="11292840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23" name="!!Rail label 5"/>
          <p:cNvSpPr txBox="1"/>
          <p:nvPr/>
        </p:nvSpPr>
        <p:spPr>
          <a:xfrm>
            <a:off x="1159459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lasp glow" descr="Glow around the clas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104" y="3032497"/>
            <a:ext cx="1093622" cy="109362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!!Ubiquitin 1" descr="Ubiquitin 1 (3D model)"/>
              <p:cNvGraphicFramePr>
                <a:graphicFrameLocks noGrp="1" noChangeAspect="1"/>
              </p:cNvGraphicFramePr>
              <p:nvPr/>
            </p:nvGraphicFramePr>
            <p:xfrm>
              <a:off x="7176373" y="2144463"/>
              <a:ext cx="862872" cy="862872"/>
            </p:xfrm>
            <a:graphic>
              <a:graphicData uri="http://schemas.microsoft.com/office/drawing/2017/model3d">
                <am3d:model3d r:embed="rId15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628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!!Ubiquitin 1" descr="Ubiquitin 1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76373" y="2144463"/>
                <a:ext cx="862872" cy="862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Ubiquitin 3" descr="Ubiquitin 3 (3D model)"/>
              <p:cNvGraphicFramePr>
                <a:graphicFrameLocks noGrp="1" noChangeAspect="1"/>
              </p:cNvGraphicFramePr>
              <p:nvPr/>
            </p:nvGraphicFramePr>
            <p:xfrm>
              <a:off x="7050211" y="1599602"/>
              <a:ext cx="862872" cy="862872"/>
            </p:xfrm>
            <a:graphic>
              <a:graphicData uri="http://schemas.microsoft.com/office/drawing/2017/model3d">
                <am3d:model3d r:embed="rId16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628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Ubiquitin 3" descr="Ubiquitin 3 (3D model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50211" y="1599602"/>
                <a:ext cx="862872" cy="862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lasp bond" descr="Clasp bond (3D model)"/>
              <p:cNvGraphicFramePr>
                <a:graphicFrameLocks noGrp="1" noChangeAspect="1"/>
              </p:cNvGraphicFramePr>
              <p:nvPr/>
            </p:nvGraphicFramePr>
            <p:xfrm>
              <a:off x="7446409" y="3463802"/>
              <a:ext cx="231013" cy="231013"/>
            </p:xfrm>
            <a:graphic>
              <a:graphicData uri="http://schemas.microsoft.com/office/drawing/2017/model3d">
                <am3d:model3d r:embed="rId17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641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310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lasp bond" descr="Clasp bond (3D model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46409" y="3463802"/>
                <a:ext cx="231013" cy="231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7327450" y="2867882"/>
              <a:ext cx="1017748" cy="1017748"/>
            </p:xfrm>
            <a:graphic>
              <a:graphicData uri="http://schemas.microsoft.com/office/drawing/2017/model3d">
                <am3d:model3d r:embed="rId18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0177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27450" y="2867882"/>
                <a:ext cx="1017748" cy="1017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7248149" y="3107402"/>
              <a:ext cx="616637" cy="616637"/>
            </p:xfrm>
            <a:graphic>
              <a:graphicData uri="http://schemas.microsoft.com/office/drawing/2017/model3d">
                <am3d:model3d r:embed="rId19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6166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48149" y="3107402"/>
                <a:ext cx="616637" cy="616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!!Ubiquitin 2" descr="Ubiquitin 2 (3D model)"/>
              <p:cNvGraphicFramePr>
                <a:graphicFrameLocks noGrp="1" noChangeAspect="1"/>
              </p:cNvGraphicFramePr>
              <p:nvPr/>
            </p:nvGraphicFramePr>
            <p:xfrm>
              <a:off x="7118339" y="1892197"/>
              <a:ext cx="862872" cy="862872"/>
            </p:xfrm>
            <a:graphic>
              <a:graphicData uri="http://schemas.microsoft.com/office/drawing/2017/model3d">
                <am3d:model3d r:embed="rId20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628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!!Ubiquitin 2" descr="Ubiquitin 2 (3D model)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8339" y="1892197"/>
                <a:ext cx="862872" cy="862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!!Ubiquitin 4" descr="Ubiquitin 4 (3D model)"/>
              <p:cNvGraphicFramePr>
                <a:graphicFrameLocks noGrp="1" noChangeAspect="1"/>
              </p:cNvGraphicFramePr>
              <p:nvPr/>
            </p:nvGraphicFramePr>
            <p:xfrm>
              <a:off x="6992177" y="1347336"/>
              <a:ext cx="862872" cy="862872"/>
            </p:xfrm>
            <a:graphic>
              <a:graphicData uri="http://schemas.microsoft.com/office/drawing/2017/model3d">
                <am3d:model3d r:embed="rId21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8628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!!Ubiquitin 4" descr="Ubiquitin 4 (3D model)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2177" y="1347336"/>
                <a:ext cx="862872" cy="862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!!BRD4" descr="BRD4 (3D model)"/>
              <p:cNvGraphicFramePr>
                <a:graphicFrameLocks noGrp="1" noChangeAspect="1"/>
              </p:cNvGraphicFramePr>
              <p:nvPr/>
            </p:nvGraphicFramePr>
            <p:xfrm>
              <a:off x="5000630" y="1646513"/>
              <a:ext cx="3439631" cy="3439631"/>
            </p:xfrm>
            <a:graphic>
              <a:graphicData uri="http://schemas.microsoft.com/office/drawing/2017/model3d">
                <am3d:model3d r:embed="rId22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23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4396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!!BRD4" descr="BRD4 (3D model)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00630" y="1646513"/>
                <a:ext cx="3439631" cy="3439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!!E2 enzyme" descr="E2 enzyme (3D model)"/>
              <p:cNvGraphicFramePr>
                <a:graphicFrameLocks noGrp="1" noChangeAspect="1"/>
              </p:cNvGraphicFramePr>
              <p:nvPr/>
            </p:nvGraphicFramePr>
            <p:xfrm>
              <a:off x="7293217" y="958900"/>
              <a:ext cx="2386456" cy="2386456"/>
            </p:xfrm>
            <a:graphic>
              <a:graphicData uri="http://schemas.microsoft.com/office/drawing/2017/model3d">
                <am3d:model3d r:embed="rId23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772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23864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!!E2 enzyme" descr="E2 enzyme (3D model)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93217" y="958900"/>
                <a:ext cx="2386456" cy="2386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!!VHL complex" descr="VHL complex (3D model)"/>
              <p:cNvGraphicFramePr>
                <a:graphicFrameLocks noGrp="1" noChangeAspect="1"/>
              </p:cNvGraphicFramePr>
              <p:nvPr/>
            </p:nvGraphicFramePr>
            <p:xfrm>
              <a:off x="6524908" y="369265"/>
              <a:ext cx="5513292" cy="5513292"/>
            </p:xfrm>
            <a:graphic>
              <a:graphicData uri="http://schemas.microsoft.com/office/drawing/2017/model3d">
                <am3d:model3d r:embed="rId24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68755" az="0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55132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!!VHL complex" descr="VHL complex (3D model)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24908" y="369265"/>
                <a:ext cx="5513292" cy="5513292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Eyebrow"/>
          <p:cNvSpPr txBox="1"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CLEARED</a:t>
            </a:r>
            <a:endParaRPr lang="en-US" sz="1100" dirty="0"/>
          </a:p>
        </p:txBody>
      </p:sp>
      <p:sp>
        <p:nvSpPr>
          <p:cNvPr id="14" name="Title"/>
          <p:cNvSpPr txBox="1"/>
          <p:nvPr/>
        </p:nvSpPr>
        <p:spPr>
          <a:xfrm>
            <a:off x="640080" y="1783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Tagged, then destroyed</a:t>
            </a:r>
            <a:endParaRPr lang="en-US" sz="3000" dirty="0"/>
          </a:p>
        </p:txBody>
      </p:sp>
      <p:sp>
        <p:nvSpPr>
          <p:cNvPr id="15" name="Body"/>
          <p:cNvSpPr txBox="1"/>
          <p:nvPr/>
        </p:nvSpPr>
        <p:spPr>
          <a:xfrm>
            <a:off x="640080" y="3931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E2 enzyme docks on the ligase and hands ubiquitin, one unit at a time, onto the target.</a:t>
            </a:r>
            <a:endParaRPr lang="en-US" sz="1500" dirty="0"/>
          </a:p>
        </p:txBody>
      </p:sp>
      <p:sp>
        <p:nvSpPr>
          <p:cNvPr id="16" name="!!Rail line"/>
          <p:cNvSpPr/>
          <p:nvPr/>
        </p:nvSpPr>
        <p:spPr>
          <a:xfrm>
            <a:off x="777240" y="6272784"/>
            <a:ext cx="10607040" cy="0"/>
          </a:xfrm>
          <a:prstGeom prst="line">
            <a:avLst/>
          </a:prstGeom>
          <a:noFill/>
          <a:ln w="9525">
            <a:solidFill>
              <a:srgbClr val="2B2230">
                <a:alpha val="30000"/>
              </a:srgbClr>
            </a:solidFill>
            <a:prstDash val="solid"/>
          </a:ln>
        </p:spPr>
      </p:sp>
      <p:sp>
        <p:nvSpPr>
          <p:cNvPr id="17" name="!!Rail pearl 0"/>
          <p:cNvSpPr/>
          <p:nvPr/>
        </p:nvSpPr>
        <p:spPr>
          <a:xfrm>
            <a:off x="68580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8" name="!!Rail label 0"/>
          <p:cNvSpPr txBox="1"/>
          <p:nvPr/>
        </p:nvSpPr>
        <p:spPr>
          <a:xfrm>
            <a:off x="98755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DEGRADER</a:t>
            </a:r>
            <a:endParaRPr lang="en-US" sz="900" dirty="0"/>
          </a:p>
        </p:txBody>
      </p:sp>
      <p:sp>
        <p:nvSpPr>
          <p:cNvPr id="19" name="!!Rail pearl 1"/>
          <p:cNvSpPr/>
          <p:nvPr/>
        </p:nvSpPr>
        <p:spPr>
          <a:xfrm>
            <a:off x="2807208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0" name="!!Rail label 1"/>
          <p:cNvSpPr txBox="1"/>
          <p:nvPr/>
        </p:nvSpPr>
        <p:spPr>
          <a:xfrm>
            <a:off x="3108960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21" name="!!Rail pearl 2"/>
          <p:cNvSpPr/>
          <p:nvPr/>
        </p:nvSpPr>
        <p:spPr>
          <a:xfrm>
            <a:off x="4928616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2" name="!!Rail label 2"/>
          <p:cNvSpPr txBox="1"/>
          <p:nvPr/>
        </p:nvSpPr>
        <p:spPr>
          <a:xfrm>
            <a:off x="5230368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23" name="!!Rail pearl 3"/>
          <p:cNvSpPr/>
          <p:nvPr/>
        </p:nvSpPr>
        <p:spPr>
          <a:xfrm>
            <a:off x="7022592" y="6153912"/>
            <a:ext cx="237744" cy="237744"/>
          </a:xfrm>
          <a:prstGeom prst="ellipse">
            <a:avLst/>
          </a:prstGeom>
          <a:solidFill>
            <a:srgbClr val="D9A443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4" name="!!Rail label 3"/>
          <p:cNvSpPr txBox="1"/>
          <p:nvPr/>
        </p:nvSpPr>
        <p:spPr>
          <a:xfrm>
            <a:off x="7351776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REBUILT</a:t>
            </a:r>
            <a:endParaRPr lang="en-US" sz="900" dirty="0"/>
          </a:p>
        </p:txBody>
      </p:sp>
      <p:sp>
        <p:nvSpPr>
          <p:cNvPr id="25" name="!!Rail pearl 4"/>
          <p:cNvSpPr/>
          <p:nvPr/>
        </p:nvSpPr>
        <p:spPr>
          <a:xfrm>
            <a:off x="9171432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6" name="!!Rail label 4"/>
          <p:cNvSpPr txBox="1"/>
          <p:nvPr/>
        </p:nvSpPr>
        <p:spPr>
          <a:xfrm>
            <a:off x="9473184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endParaRPr lang="en-US" sz="900" dirty="0"/>
          </a:p>
        </p:txBody>
      </p:sp>
      <p:sp>
        <p:nvSpPr>
          <p:cNvPr id="27" name="!!Rail pearl 5"/>
          <p:cNvSpPr/>
          <p:nvPr/>
        </p:nvSpPr>
        <p:spPr>
          <a:xfrm>
            <a:off x="11292840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28" name="!!Rail label 5"/>
          <p:cNvSpPr txBox="1"/>
          <p:nvPr/>
        </p:nvSpPr>
        <p:spPr>
          <a:xfrm>
            <a:off x="1159459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lasp glow" descr="Glow around the clas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984" y="2550406"/>
            <a:ext cx="950976" cy="95097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!!BRD4 second" descr="BRD4 second (3D model)"/>
              <p:cNvGraphicFramePr>
                <a:graphicFrameLocks noGrp="1" noChangeAspect="1"/>
              </p:cNvGraphicFramePr>
              <p:nvPr/>
            </p:nvGraphicFramePr>
            <p:xfrm>
              <a:off x="4901925" y="5710305"/>
              <a:ext cx="2990984" cy="2990984"/>
            </p:xfrm>
            <a:graphic>
              <a:graphicData uri="http://schemas.microsoft.com/office/drawing/2017/model3d">
                <am3d:model3d r:embed="rId16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23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9909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!!BRD4 second" descr="BRD4 second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1925" y="5710305"/>
                <a:ext cx="2990984" cy="2990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lasp bond" descr="Clasp bond (3D model)"/>
              <p:cNvGraphicFramePr>
                <a:graphicFrameLocks noGrp="1" noChangeAspect="1"/>
              </p:cNvGraphicFramePr>
              <p:nvPr/>
            </p:nvGraphicFramePr>
            <p:xfrm>
              <a:off x="8137032" y="2925454"/>
              <a:ext cx="200881" cy="200881"/>
            </p:xfrm>
            <a:graphic>
              <a:graphicData uri="http://schemas.microsoft.com/office/drawing/2017/model3d">
                <am3d:model3d r:embed="rId17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641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088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Clasp bond" descr="Clasp bond (3D model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7032" y="2925454"/>
                <a:ext cx="200881" cy="2008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7960767" y="2615498"/>
              <a:ext cx="536206" cy="536206"/>
            </p:xfrm>
            <a:graphic>
              <a:graphicData uri="http://schemas.microsoft.com/office/drawing/2017/model3d">
                <am3d:model3d r:embed="rId18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3620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60767" y="2615498"/>
                <a:ext cx="536206" cy="536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8029594" y="2408776"/>
              <a:ext cx="884999" cy="884999"/>
            </p:xfrm>
            <a:graphic>
              <a:graphicData uri="http://schemas.microsoft.com/office/drawing/2017/model3d">
                <am3d:model3d r:embed="rId19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849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29594" y="2408776"/>
                <a:ext cx="884999" cy="884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!!Proteasome" descr="Proteasome (3D model)"/>
              <p:cNvGraphicFramePr>
                <a:graphicFrameLocks noGrp="1" noChangeAspect="1"/>
              </p:cNvGraphicFramePr>
              <p:nvPr/>
            </p:nvGraphicFramePr>
            <p:xfrm>
              <a:off x="4701270" y="2784484"/>
              <a:ext cx="3240523" cy="3240523"/>
            </p:xfrm>
            <a:graphic>
              <a:graphicData uri="http://schemas.microsoft.com/office/drawing/2017/model3d">
                <am3d:model3d r:embed="rId20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75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24052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!!Proteasome" descr="Proteasome (3D model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01270" y="2784484"/>
                <a:ext cx="3240523" cy="3240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!!BRD4" descr="BRD4 (3D model)"/>
              <p:cNvGraphicFramePr>
                <a:graphicFrameLocks noGrp="1" noChangeAspect="1"/>
              </p:cNvGraphicFramePr>
              <p:nvPr/>
            </p:nvGraphicFramePr>
            <p:xfrm>
              <a:off x="6503666" y="4005274"/>
              <a:ext cx="658016" cy="658016"/>
            </p:xfrm>
            <a:graphic>
              <a:graphicData uri="http://schemas.microsoft.com/office/drawing/2017/model3d">
                <am3d:model3d r:embed="rId21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23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6580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!!BRD4" descr="BRD4 (3D model)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3666" y="4005274"/>
                <a:ext cx="658016" cy="658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!!Ubiquitin 1" descr="Ubiquitin 1 (3D model)"/>
              <p:cNvGraphicFramePr>
                <a:graphicFrameLocks noGrp="1" noChangeAspect="1"/>
              </p:cNvGraphicFramePr>
              <p:nvPr/>
            </p:nvGraphicFramePr>
            <p:xfrm>
              <a:off x="6671890" y="4173498"/>
              <a:ext cx="321567" cy="321567"/>
            </p:xfrm>
            <a:graphic>
              <a:graphicData uri="http://schemas.microsoft.com/office/drawing/2017/model3d">
                <am3d:model3d r:embed="rId22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3215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!!Ubiquitin 1" descr="Ubiquitin 1 (3D model)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71890" y="4173498"/>
                <a:ext cx="321567" cy="321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!!Ubiquitin 2" descr="Ubiquitin 2 (3D model)"/>
              <p:cNvGraphicFramePr>
                <a:graphicFrameLocks noGrp="1" noChangeAspect="1"/>
              </p:cNvGraphicFramePr>
              <p:nvPr/>
            </p:nvGraphicFramePr>
            <p:xfrm>
              <a:off x="6671890" y="4173498"/>
              <a:ext cx="321567" cy="321567"/>
            </p:xfrm>
            <a:graphic>
              <a:graphicData uri="http://schemas.microsoft.com/office/drawing/2017/model3d">
                <am3d:model3d r:embed="rId23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215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!!Ubiquitin 2" descr="Ubiquitin 2 (3D model)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71890" y="4173498"/>
                <a:ext cx="321567" cy="321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!!Ubiquitin 3" descr="Ubiquitin 3 (3D model)"/>
              <p:cNvGraphicFramePr>
                <a:graphicFrameLocks noGrp="1" noChangeAspect="1"/>
              </p:cNvGraphicFramePr>
              <p:nvPr/>
            </p:nvGraphicFramePr>
            <p:xfrm>
              <a:off x="6671890" y="4173498"/>
              <a:ext cx="321567" cy="321567"/>
            </p:xfrm>
            <a:graphic>
              <a:graphicData uri="http://schemas.microsoft.com/office/drawing/2017/model3d">
                <am3d:model3d r:embed="rId24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3215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!!Ubiquitin 3" descr="Ubiquitin 3 (3D model)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71890" y="4173498"/>
                <a:ext cx="321567" cy="321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!!Ubiquitin 4" descr="Ubiquitin 4 (3D model)"/>
              <p:cNvGraphicFramePr>
                <a:graphicFrameLocks noGrp="1" noChangeAspect="1"/>
              </p:cNvGraphicFramePr>
              <p:nvPr/>
            </p:nvGraphicFramePr>
            <p:xfrm>
              <a:off x="6671890" y="4173498"/>
              <a:ext cx="321567" cy="321567"/>
            </p:xfrm>
            <a:graphic>
              <a:graphicData uri="http://schemas.microsoft.com/office/drawing/2017/model3d">
                <am3d:model3d r:embed="rId25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367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3215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!!Ubiquitin 4" descr="Ubiquitin 4 (3D model)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71890" y="4173498"/>
                <a:ext cx="321567" cy="321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!!VHL complex" descr="VHL complex (3D model)"/>
              <p:cNvGraphicFramePr>
                <a:graphicFrameLocks noGrp="1" noChangeAspect="1"/>
              </p:cNvGraphicFramePr>
              <p:nvPr/>
            </p:nvGraphicFramePr>
            <p:xfrm>
              <a:off x="7280520" y="243940"/>
              <a:ext cx="4794167" cy="4794167"/>
            </p:xfrm>
            <a:graphic>
              <a:graphicData uri="http://schemas.microsoft.com/office/drawing/2017/model3d">
                <am3d:model3d r:embed="rId26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75020" ay="21393735" az="0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47941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!!VHL complex" descr="VHL complex (3D model)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80520" y="243940"/>
                <a:ext cx="4794167" cy="4794167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Eyebrow"/>
          <p:cNvSpPr txBox="1"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CLEARED</a:t>
            </a:r>
            <a:endParaRPr lang="en-US" sz="1100" dirty="0"/>
          </a:p>
        </p:txBody>
      </p:sp>
      <p:sp>
        <p:nvSpPr>
          <p:cNvPr id="15" name="Title"/>
          <p:cNvSpPr txBox="1"/>
          <p:nvPr/>
        </p:nvSpPr>
        <p:spPr>
          <a:xfrm>
            <a:off x="640080" y="1783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proteasome breaks the target down</a:t>
            </a:r>
            <a:endParaRPr lang="en-US" sz="3000" dirty="0"/>
          </a:p>
        </p:txBody>
      </p:sp>
      <p:sp>
        <p:nvSpPr>
          <p:cNvPr id="16" name="Body"/>
          <p:cNvSpPr txBox="1"/>
          <p:nvPr/>
        </p:nvSpPr>
        <p:spPr>
          <a:xfrm>
            <a:off x="640080" y="3931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reads the ubiquitin chain, draws the target in and recycles it.</a:t>
            </a:r>
            <a:endParaRPr lang="en-US" sz="1500" dirty="0"/>
          </a:p>
        </p:txBody>
      </p:sp>
      <p:sp>
        <p:nvSpPr>
          <p:cNvPr id="17" name="!!Rail line"/>
          <p:cNvSpPr/>
          <p:nvPr/>
        </p:nvSpPr>
        <p:spPr>
          <a:xfrm>
            <a:off x="777240" y="6272784"/>
            <a:ext cx="10607040" cy="0"/>
          </a:xfrm>
          <a:prstGeom prst="line">
            <a:avLst/>
          </a:prstGeom>
          <a:noFill/>
          <a:ln w="9525">
            <a:solidFill>
              <a:srgbClr val="2B2230">
                <a:alpha val="30000"/>
              </a:srgbClr>
            </a:solidFill>
            <a:prstDash val="solid"/>
          </a:ln>
        </p:spPr>
      </p:sp>
      <p:sp>
        <p:nvSpPr>
          <p:cNvPr id="18" name="!!Rail pearl 0"/>
          <p:cNvSpPr/>
          <p:nvPr/>
        </p:nvSpPr>
        <p:spPr>
          <a:xfrm>
            <a:off x="68580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9" name="!!Rail label 0"/>
          <p:cNvSpPr txBox="1"/>
          <p:nvPr/>
        </p:nvSpPr>
        <p:spPr>
          <a:xfrm>
            <a:off x="98755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DEGRADER</a:t>
            </a:r>
            <a:endParaRPr lang="en-US" sz="900" dirty="0"/>
          </a:p>
        </p:txBody>
      </p:sp>
      <p:sp>
        <p:nvSpPr>
          <p:cNvPr id="20" name="!!Rail pearl 1"/>
          <p:cNvSpPr/>
          <p:nvPr/>
        </p:nvSpPr>
        <p:spPr>
          <a:xfrm>
            <a:off x="2807208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1" name="!!Rail label 1"/>
          <p:cNvSpPr txBox="1"/>
          <p:nvPr/>
        </p:nvSpPr>
        <p:spPr>
          <a:xfrm>
            <a:off x="3108960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22" name="!!Rail pearl 2"/>
          <p:cNvSpPr/>
          <p:nvPr/>
        </p:nvSpPr>
        <p:spPr>
          <a:xfrm>
            <a:off x="4928616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3" name="!!Rail label 2"/>
          <p:cNvSpPr txBox="1"/>
          <p:nvPr/>
        </p:nvSpPr>
        <p:spPr>
          <a:xfrm>
            <a:off x="5230368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24" name="!!Rail pearl 3"/>
          <p:cNvSpPr/>
          <p:nvPr/>
        </p:nvSpPr>
        <p:spPr>
          <a:xfrm>
            <a:off x="7022592" y="6153912"/>
            <a:ext cx="237744" cy="237744"/>
          </a:xfrm>
          <a:prstGeom prst="ellipse">
            <a:avLst/>
          </a:prstGeom>
          <a:solidFill>
            <a:srgbClr val="D9A443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5" name="!!Rail label 3"/>
          <p:cNvSpPr txBox="1"/>
          <p:nvPr/>
        </p:nvSpPr>
        <p:spPr>
          <a:xfrm>
            <a:off x="7351776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REBUILT</a:t>
            </a:r>
            <a:endParaRPr lang="en-US" sz="900" dirty="0"/>
          </a:p>
        </p:txBody>
      </p:sp>
      <p:sp>
        <p:nvSpPr>
          <p:cNvPr id="26" name="!!Rail pearl 4"/>
          <p:cNvSpPr/>
          <p:nvPr/>
        </p:nvSpPr>
        <p:spPr>
          <a:xfrm>
            <a:off x="9171432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7" name="!!Rail label 4"/>
          <p:cNvSpPr txBox="1"/>
          <p:nvPr/>
        </p:nvSpPr>
        <p:spPr>
          <a:xfrm>
            <a:off x="9473184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endParaRPr lang="en-US" sz="900" dirty="0"/>
          </a:p>
        </p:txBody>
      </p:sp>
      <p:sp>
        <p:nvSpPr>
          <p:cNvPr id="28" name="!!Rail pearl 5"/>
          <p:cNvSpPr/>
          <p:nvPr/>
        </p:nvSpPr>
        <p:spPr>
          <a:xfrm>
            <a:off x="11292840" y="6181344"/>
            <a:ext cx="182880" cy="182880"/>
          </a:xfrm>
          <a:prstGeom prst="ellipse">
            <a:avLst/>
          </a:prstGeom>
          <a:solidFill>
            <a:srgbClr val="F6EEEC">
              <a:alpha val="0"/>
            </a:srgbClr>
          </a:solidFill>
          <a:ln w="13970">
            <a:solidFill>
              <a:srgbClr val="2B2230">
                <a:alpha val="50000"/>
              </a:srgbClr>
            </a:solidFill>
            <a:prstDash val="solid"/>
          </a:ln>
        </p:spPr>
      </p:sp>
      <p:sp>
        <p:nvSpPr>
          <p:cNvPr id="29" name="!!Rail label 5"/>
          <p:cNvSpPr txBox="1"/>
          <p:nvPr/>
        </p:nvSpPr>
        <p:spPr>
          <a:xfrm>
            <a:off x="1159459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lasp glow" descr="Glow around the clas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672" y="3049225"/>
            <a:ext cx="1093622" cy="109362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!!Clasp bond" descr="Clasp bond (3D model)"/>
              <p:cNvGraphicFramePr>
                <a:graphicFrameLocks noGrp="1" noChangeAspect="1"/>
              </p:cNvGraphicFramePr>
              <p:nvPr/>
            </p:nvGraphicFramePr>
            <p:xfrm>
              <a:off x="7409977" y="3480530"/>
              <a:ext cx="231013" cy="231013"/>
            </p:xfrm>
            <a:graphic>
              <a:graphicData uri="http://schemas.microsoft.com/office/drawing/2017/model3d">
                <am3d:model3d r:embed="rId10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641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343775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310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!!Clasp bond" descr="Clasp bond (3D model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09977" y="3480530"/>
                <a:ext cx="231013" cy="231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Degrader half B" descr="Degrader half B (3D model)"/>
              <p:cNvGraphicFramePr>
                <a:graphicFrameLocks noGrp="1" noChangeAspect="1"/>
              </p:cNvGraphicFramePr>
              <p:nvPr/>
            </p:nvGraphicFramePr>
            <p:xfrm>
              <a:off x="7293858" y="2881711"/>
              <a:ext cx="1017748" cy="1017748"/>
            </p:xfrm>
            <a:graphic>
              <a:graphicData uri="http://schemas.microsoft.com/office/drawing/2017/model3d">
                <am3d:model3d r:embed="rId11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0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343775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177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Degrader half B" descr="Degrader half B (3D model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3858" y="2881711"/>
                <a:ext cx="1017748" cy="1017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Degrader half A" descr="Degrader half A (3D model)"/>
              <p:cNvGraphicFramePr>
                <a:graphicFrameLocks noGrp="1" noChangeAspect="1"/>
              </p:cNvGraphicFramePr>
              <p:nvPr/>
            </p:nvGraphicFramePr>
            <p:xfrm>
              <a:off x="7216196" y="3122143"/>
              <a:ext cx="616637" cy="616637"/>
            </p:xfrm>
            <a:graphic>
              <a:graphicData uri="http://schemas.microsoft.com/office/drawing/2017/model3d">
                <am3d:model3d r:embed="rId12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73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343775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166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Degrader half A" descr="Degrader half A (3D model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16196" y="3122143"/>
                <a:ext cx="616637" cy="616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!!BRD4 second" descr="BRD4 second (3D model)"/>
              <p:cNvGraphicFramePr>
                <a:graphicFrameLocks noGrp="1" noChangeAspect="1"/>
              </p:cNvGraphicFramePr>
              <p:nvPr/>
            </p:nvGraphicFramePr>
            <p:xfrm>
              <a:off x="4984574" y="1659491"/>
              <a:ext cx="3439631" cy="3439631"/>
            </p:xfrm>
            <a:graphic>
              <a:graphicData uri="http://schemas.microsoft.com/office/drawing/2017/model3d">
                <am3d:model3d r:embed="rId13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23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343775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4396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!!BRD4 second" descr="BRD4 second (3D model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84574" y="1659491"/>
                <a:ext cx="3439631" cy="3439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!!VHL complex" descr="VHL complex (3D model)"/>
              <p:cNvGraphicFramePr>
                <a:graphicFrameLocks noGrp="1" noChangeAspect="1"/>
              </p:cNvGraphicFramePr>
              <p:nvPr/>
            </p:nvGraphicFramePr>
            <p:xfrm>
              <a:off x="6540965" y="356287"/>
              <a:ext cx="5513292" cy="5513292"/>
            </p:xfrm>
            <a:graphic>
              <a:graphicData uri="http://schemas.microsoft.com/office/drawing/2017/model3d">
                <am3d:model3d r:embed="rId14">
                  <am3d:spPr>
                    <a:prstGeom prst="rect">
                      <a:avLst/>
                    </a:prstGeom>
                  </am3d:spPr>
                  <am3d:camera>
                    <am3d:pos x="0" y="0" z="731005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0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71887" ay="343775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5132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100000" b="10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100000" g="100000" b="100000"/>
                    </am3d:clr>
                    <am3d:intensity n="6250000" d="1000000"/>
                    <am3d:pos x="-37964106" y="51130435" z="57631972"/>
                  </am3d:ptLight>
                  <am3d:ptLight rad="0">
                    <am3d:clr>
                      <a:scrgbClr r="100000" g="1000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!!VHL complex" descr="VHL complex (3D model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40965" y="356287"/>
                <a:ext cx="5513292" cy="5513292"/>
              </a:xfrm>
              <a:prstGeom prst="rect">
                <a:avLst/>
              </a:prstGeom>
            </p:spPr>
          </p:pic>
        </mc:Fallback>
      </mc:AlternateContent>
      <p:sp>
        <p:nvSpPr>
          <p:cNvPr id="8" name="Eyebrow"/>
          <p:cNvSpPr txBox="1"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AGAIN</a:t>
            </a:r>
            <a:endParaRPr lang="en-US" sz="1100" dirty="0"/>
          </a:p>
        </p:txBody>
      </p:sp>
      <p:sp>
        <p:nvSpPr>
          <p:cNvPr id="9" name="Title"/>
          <p:cNvSpPr txBox="1"/>
          <p:nvPr/>
        </p:nvSpPr>
        <p:spPr>
          <a:xfrm>
            <a:off x="640080" y="1783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Then it does it again</a:t>
            </a:r>
            <a:endParaRPr lang="en-US" sz="3000" dirty="0"/>
          </a:p>
        </p:txBody>
      </p:sp>
      <p:sp>
        <p:nvSpPr>
          <p:cNvPr id="10" name="Body"/>
          <p:cNvSpPr txBox="1"/>
          <p:nvPr/>
        </p:nvSpPr>
        <p:spPr>
          <a:xfrm>
            <a:off x="640080" y="3931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degrader is not used up. It lets go and catches the next one, so one molecule can clear many.</a:t>
            </a:r>
            <a:endParaRPr lang="en-US" sz="1500" dirty="0"/>
          </a:p>
        </p:txBody>
      </p:sp>
      <p:sp>
        <p:nvSpPr>
          <p:cNvPr id="11" name="!!Rail line"/>
          <p:cNvSpPr/>
          <p:nvPr/>
        </p:nvSpPr>
        <p:spPr>
          <a:xfrm>
            <a:off x="777240" y="6272784"/>
            <a:ext cx="10607040" cy="0"/>
          </a:xfrm>
          <a:prstGeom prst="line">
            <a:avLst/>
          </a:prstGeom>
          <a:noFill/>
          <a:ln w="9525">
            <a:solidFill>
              <a:srgbClr val="2B2230">
                <a:alpha val="30000"/>
              </a:srgbClr>
            </a:solidFill>
            <a:prstDash val="solid"/>
          </a:ln>
        </p:spPr>
      </p:sp>
      <p:sp>
        <p:nvSpPr>
          <p:cNvPr id="12" name="!!Rail pearl 0"/>
          <p:cNvSpPr/>
          <p:nvPr/>
        </p:nvSpPr>
        <p:spPr>
          <a:xfrm>
            <a:off x="68580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3" name="!!Rail label 0"/>
          <p:cNvSpPr txBox="1"/>
          <p:nvPr/>
        </p:nvSpPr>
        <p:spPr>
          <a:xfrm>
            <a:off x="98755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DEGRADER</a:t>
            </a:r>
            <a:endParaRPr lang="en-US" sz="900" dirty="0"/>
          </a:p>
        </p:txBody>
      </p:sp>
      <p:sp>
        <p:nvSpPr>
          <p:cNvPr id="14" name="!!Rail pearl 1"/>
          <p:cNvSpPr/>
          <p:nvPr/>
        </p:nvSpPr>
        <p:spPr>
          <a:xfrm>
            <a:off x="2807208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5" name="!!Rail label 1"/>
          <p:cNvSpPr txBox="1"/>
          <p:nvPr/>
        </p:nvSpPr>
        <p:spPr>
          <a:xfrm>
            <a:off x="3108960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16" name="!!Rail pearl 2"/>
          <p:cNvSpPr/>
          <p:nvPr/>
        </p:nvSpPr>
        <p:spPr>
          <a:xfrm>
            <a:off x="4928616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7" name="!!Rail label 2"/>
          <p:cNvSpPr txBox="1"/>
          <p:nvPr/>
        </p:nvSpPr>
        <p:spPr>
          <a:xfrm>
            <a:off x="5230368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18" name="!!Rail pearl 3"/>
          <p:cNvSpPr/>
          <p:nvPr/>
        </p:nvSpPr>
        <p:spPr>
          <a:xfrm>
            <a:off x="7022592" y="6153912"/>
            <a:ext cx="237744" cy="237744"/>
          </a:xfrm>
          <a:prstGeom prst="ellipse">
            <a:avLst/>
          </a:prstGeom>
          <a:solidFill>
            <a:srgbClr val="D9A443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19" name="!!Rail label 3"/>
          <p:cNvSpPr txBox="1"/>
          <p:nvPr/>
        </p:nvSpPr>
        <p:spPr>
          <a:xfrm>
            <a:off x="7351776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REBUILT</a:t>
            </a:r>
            <a:endParaRPr lang="en-US" sz="900" dirty="0"/>
          </a:p>
        </p:txBody>
      </p:sp>
      <p:sp>
        <p:nvSpPr>
          <p:cNvPr id="20" name="!!Rail pearl 4"/>
          <p:cNvSpPr/>
          <p:nvPr/>
        </p:nvSpPr>
        <p:spPr>
          <a:xfrm>
            <a:off x="9171432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1" name="!!Rail label 4"/>
          <p:cNvSpPr txBox="1"/>
          <p:nvPr/>
        </p:nvSpPr>
        <p:spPr>
          <a:xfrm>
            <a:off x="9473184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endParaRPr lang="en-US" sz="900" dirty="0"/>
          </a:p>
        </p:txBody>
      </p:sp>
      <p:sp>
        <p:nvSpPr>
          <p:cNvPr id="22" name="!!Rail pearl 5"/>
          <p:cNvSpPr/>
          <p:nvPr/>
        </p:nvSpPr>
        <p:spPr>
          <a:xfrm>
            <a:off x="11292840" y="618134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B2230"/>
            </a:solidFill>
            <a:prstDash val="solid"/>
          </a:ln>
        </p:spPr>
      </p:sp>
      <p:sp>
        <p:nvSpPr>
          <p:cNvPr id="23" name="!!Rail label 5"/>
          <p:cNvSpPr txBox="1"/>
          <p:nvPr/>
        </p:nvSpPr>
        <p:spPr>
          <a:xfrm>
            <a:off x="11594592" y="6163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type" descr="Oyster Therapeut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8" y="2103120"/>
            <a:ext cx="6583680" cy="2312245"/>
          </a:xfrm>
          <a:prstGeom prst="rect">
            <a:avLst/>
          </a:prstGeom>
        </p:spPr>
      </p:pic>
      <p:sp>
        <p:nvSpPr>
          <p:cNvPr id="3" name="!!Tagline"/>
          <p:cNvSpPr txBox="1"/>
          <p:nvPr/>
        </p:nvSpPr>
        <p:spPr>
          <a:xfrm>
            <a:off x="2804008" y="46439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Oral, brain-penetrant protein degraders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yster Nacre">
  <a:themeElements>
    <a:clrScheme name="Oyster Nacre">
      <a:dk1>
        <a:srgbClr val="2B2230"/>
      </a:dk1>
      <a:lt1>
        <a:srgbClr val="FFFFFF"/>
      </a:lt1>
      <a:dk2>
        <a:srgbClr val="65586A"/>
      </a:dk2>
      <a:lt2>
        <a:srgbClr val="F6EEEC"/>
      </a:lt2>
      <a:accent1>
        <a:srgbClr val="8C5572"/>
      </a:accent1>
      <a:accent2>
        <a:srgbClr val="D9A443"/>
      </a:accent2>
      <a:accent3>
        <a:srgbClr val="B4678B"/>
      </a:accent3>
      <a:accent4>
        <a:srgbClr val="8A73B2"/>
      </a:accent4>
      <a:accent5>
        <a:srgbClr val="C99BB0"/>
      </a:accent5>
      <a:accent6>
        <a:srgbClr val="E7C9D6"/>
      </a:accent6>
      <a:hlink>
        <a:srgbClr val="8C5572"/>
      </a:hlink>
      <a:folHlink>
        <a:srgbClr val="65586A"/>
      </a:folHlink>
    </a:clrScheme>
    <a:fontScheme name="Oyster Nacr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Oyster Therapeutics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SELFTAC, in motion</dc:title>
  <dc:subject>PptxGenJS Presentation</dc:subject>
  <dc:creator>PptxGenJS</dc:creator>
  <cp:lastModifiedBy>PptxGenJS</cp:lastModifiedBy>
  <cp:revision>1</cp:revision>
  <dcterms:created xsi:type="dcterms:W3CDTF">2026-10-05T12:33:02Z</dcterms:created>
  <dcterms:modified xsi:type="dcterms:W3CDTF">2026-10-05T12:33:02Z</dcterms:modified>
</cp:coreProperties>
</file>